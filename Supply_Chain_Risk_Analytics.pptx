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799DC-7266-4469-B07F-9F022C5FD2B6}" v="44" dt="2026-09-24T15:14:21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184" autoAdjust="0"/>
  </p:normalViewPr>
  <p:slideViewPr>
    <p:cSldViewPr snapToGrid="0">
      <p:cViewPr varScale="1">
        <p:scale>
          <a:sx n="89" d="100"/>
          <a:sy n="89" d="100"/>
        </p:scale>
        <p:origin x="3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yam Naseer" userId="eaec81efba0d81ec" providerId="LiveId" clId="{083C9E08-73DE-4F66-A009-8F1E5CAD9AEA}"/>
    <pc:docChg chg="undo custSel addSld delSld modSld">
      <pc:chgData name="Mariyam Naseer" userId="eaec81efba0d81ec" providerId="LiveId" clId="{083C9E08-73DE-4F66-A009-8F1E5CAD9AEA}" dt="2026-09-24T15:16:37.936" v="1860" actId="680"/>
      <pc:docMkLst>
        <pc:docMk/>
      </pc:docMkLst>
      <pc:sldChg chg="modSp mod">
        <pc:chgData name="Mariyam Naseer" userId="eaec81efba0d81ec" providerId="LiveId" clId="{083C9E08-73DE-4F66-A009-8F1E5CAD9AEA}" dt="2026-09-22T15:11:21.268" v="5" actId="14100"/>
        <pc:sldMkLst>
          <pc:docMk/>
          <pc:sldMk cId="1033093593" sldId="264"/>
        </pc:sldMkLst>
        <pc:picChg chg="mod">
          <ac:chgData name="Mariyam Naseer" userId="eaec81efba0d81ec" providerId="LiveId" clId="{083C9E08-73DE-4F66-A009-8F1E5CAD9AEA}" dt="2026-09-22T15:11:21.268" v="5" actId="14100"/>
          <ac:picMkLst>
            <pc:docMk/>
            <pc:sldMk cId="1033093593" sldId="264"/>
            <ac:picMk id="5" creationId="{2E53AF06-FCA9-DC94-66F5-6842623FE8F7}"/>
          </ac:picMkLst>
        </pc:picChg>
      </pc:sldChg>
      <pc:sldChg chg="addSp modSp new mod">
        <pc:chgData name="Mariyam Naseer" userId="eaec81efba0d81ec" providerId="LiveId" clId="{083C9E08-73DE-4F66-A009-8F1E5CAD9AEA}" dt="2026-09-22T15:51:19.991" v="54" actId="113"/>
        <pc:sldMkLst>
          <pc:docMk/>
          <pc:sldMk cId="1992137824" sldId="265"/>
        </pc:sldMkLst>
        <pc:spChg chg="mod">
          <ac:chgData name="Mariyam Naseer" userId="eaec81efba0d81ec" providerId="LiveId" clId="{083C9E08-73DE-4F66-A009-8F1E5CAD9AEA}" dt="2026-09-22T15:51:19.991" v="54" actId="113"/>
          <ac:spMkLst>
            <pc:docMk/>
            <pc:sldMk cId="1992137824" sldId="265"/>
            <ac:spMk id="2" creationId="{5AF1543E-30C7-4225-8C7A-FCC7B9092604}"/>
          </ac:spMkLst>
        </pc:spChg>
        <pc:spChg chg="mod">
          <ac:chgData name="Mariyam Naseer" userId="eaec81efba0d81ec" providerId="LiveId" clId="{083C9E08-73DE-4F66-A009-8F1E5CAD9AEA}" dt="2026-09-22T15:21:22.730" v="38" actId="20577"/>
          <ac:spMkLst>
            <pc:docMk/>
            <pc:sldMk cId="1992137824" sldId="265"/>
            <ac:spMk id="3" creationId="{B6B2BB51-23CC-01C3-67E6-5E1AE91895F0}"/>
          </ac:spMkLst>
        </pc:spChg>
        <pc:picChg chg="add mod">
          <ac:chgData name="Mariyam Naseer" userId="eaec81efba0d81ec" providerId="LiveId" clId="{083C9E08-73DE-4F66-A009-8F1E5CAD9AEA}" dt="2026-09-22T15:41:04.703" v="51" actId="14100"/>
          <ac:picMkLst>
            <pc:docMk/>
            <pc:sldMk cId="1992137824" sldId="265"/>
            <ac:picMk id="5" creationId="{E13AB124-4BE9-4ED3-4BC1-9767FF875AE8}"/>
          </ac:picMkLst>
        </pc:picChg>
      </pc:sldChg>
      <pc:sldChg chg="addSp delSp modSp new mod">
        <pc:chgData name="Mariyam Naseer" userId="eaec81efba0d81ec" providerId="LiveId" clId="{083C9E08-73DE-4F66-A009-8F1E5CAD9AEA}" dt="2026-09-22T16:29:50.370" v="451" actId="20577"/>
        <pc:sldMkLst>
          <pc:docMk/>
          <pc:sldMk cId="871953336" sldId="266"/>
        </pc:sldMkLst>
        <pc:spChg chg="mod">
          <ac:chgData name="Mariyam Naseer" userId="eaec81efba0d81ec" providerId="LiveId" clId="{083C9E08-73DE-4F66-A009-8F1E5CAD9AEA}" dt="2026-09-22T16:15:38.639" v="336" actId="122"/>
          <ac:spMkLst>
            <pc:docMk/>
            <pc:sldMk cId="871953336" sldId="266"/>
            <ac:spMk id="2" creationId="{DE19093A-937E-A632-6E88-486460091B1F}"/>
          </ac:spMkLst>
        </pc:spChg>
        <pc:spChg chg="add mod">
          <ac:chgData name="Mariyam Naseer" userId="eaec81efba0d81ec" providerId="LiveId" clId="{083C9E08-73DE-4F66-A009-8F1E5CAD9AEA}" dt="2026-09-22T16:29:50.370" v="451" actId="20577"/>
          <ac:spMkLst>
            <pc:docMk/>
            <pc:sldMk cId="871953336" sldId="266"/>
            <ac:spMk id="7" creationId="{9A0B6EE5-83FC-7161-9562-D72AA8F04664}"/>
          </ac:spMkLst>
        </pc:spChg>
      </pc:sldChg>
      <pc:sldChg chg="addSp modSp new mod">
        <pc:chgData name="Mariyam Naseer" userId="eaec81efba0d81ec" providerId="LiveId" clId="{083C9E08-73DE-4F66-A009-8F1E5CAD9AEA}" dt="2026-09-22T16:28:21.750" v="447" actId="113"/>
        <pc:sldMkLst>
          <pc:docMk/>
          <pc:sldMk cId="3257429711" sldId="267"/>
        </pc:sldMkLst>
        <pc:spChg chg="mod">
          <ac:chgData name="Mariyam Naseer" userId="eaec81efba0d81ec" providerId="LiveId" clId="{083C9E08-73DE-4F66-A009-8F1E5CAD9AEA}" dt="2026-09-22T16:18:42.831" v="432" actId="113"/>
          <ac:spMkLst>
            <pc:docMk/>
            <pc:sldMk cId="3257429711" sldId="267"/>
            <ac:spMk id="2" creationId="{D3027048-2D1C-1462-880F-961DC5EFCFC3}"/>
          </ac:spMkLst>
        </pc:spChg>
        <pc:spChg chg="mod">
          <ac:chgData name="Mariyam Naseer" userId="eaec81efba0d81ec" providerId="LiveId" clId="{083C9E08-73DE-4F66-A009-8F1E5CAD9AEA}" dt="2026-09-22T16:28:21.750" v="447" actId="113"/>
          <ac:spMkLst>
            <pc:docMk/>
            <pc:sldMk cId="3257429711" sldId="267"/>
            <ac:spMk id="3" creationId="{930B64DF-A562-70F5-B14A-183A77683C8E}"/>
          </ac:spMkLst>
        </pc:spChg>
        <pc:picChg chg="add mod">
          <ac:chgData name="Mariyam Naseer" userId="eaec81efba0d81ec" providerId="LiveId" clId="{083C9E08-73DE-4F66-A009-8F1E5CAD9AEA}" dt="2026-09-22T16:27:51.158" v="446" actId="14100"/>
          <ac:picMkLst>
            <pc:docMk/>
            <pc:sldMk cId="3257429711" sldId="267"/>
            <ac:picMk id="5" creationId="{AA8A2057-3DD1-3724-2227-0709B9043B9B}"/>
          </ac:picMkLst>
        </pc:picChg>
      </pc:sldChg>
      <pc:sldChg chg="addSp modSp new mod">
        <pc:chgData name="Mariyam Naseer" userId="eaec81efba0d81ec" providerId="LiveId" clId="{083C9E08-73DE-4F66-A009-8F1E5CAD9AEA}" dt="2026-09-22T16:42:42.235" v="518" actId="14100"/>
        <pc:sldMkLst>
          <pc:docMk/>
          <pc:sldMk cId="2739023622" sldId="268"/>
        </pc:sldMkLst>
        <pc:spChg chg="mod">
          <ac:chgData name="Mariyam Naseer" userId="eaec81efba0d81ec" providerId="LiveId" clId="{083C9E08-73DE-4F66-A009-8F1E5CAD9AEA}" dt="2026-09-22T16:32:28.919" v="477" actId="113"/>
          <ac:spMkLst>
            <pc:docMk/>
            <pc:sldMk cId="2739023622" sldId="268"/>
            <ac:spMk id="2" creationId="{C5C589BC-0A98-6216-5096-5828B48BCFD5}"/>
          </ac:spMkLst>
        </pc:spChg>
        <pc:spChg chg="mod">
          <ac:chgData name="Mariyam Naseer" userId="eaec81efba0d81ec" providerId="LiveId" clId="{083C9E08-73DE-4F66-A009-8F1E5CAD9AEA}" dt="2026-09-22T16:40:25.400" v="505" actId="20577"/>
          <ac:spMkLst>
            <pc:docMk/>
            <pc:sldMk cId="2739023622" sldId="268"/>
            <ac:spMk id="3" creationId="{74D9856F-6B96-C249-C46A-033BF29754A6}"/>
          </ac:spMkLst>
        </pc:spChg>
        <pc:picChg chg="add mod">
          <ac:chgData name="Mariyam Naseer" userId="eaec81efba0d81ec" providerId="LiveId" clId="{083C9E08-73DE-4F66-A009-8F1E5CAD9AEA}" dt="2026-09-22T16:42:42.235" v="518" actId="14100"/>
          <ac:picMkLst>
            <pc:docMk/>
            <pc:sldMk cId="2739023622" sldId="268"/>
            <ac:picMk id="5" creationId="{F2ABBDF2-BAC1-3A76-75AF-6071A3E5C17E}"/>
          </ac:picMkLst>
        </pc:picChg>
      </pc:sldChg>
      <pc:sldChg chg="modSp new mod">
        <pc:chgData name="Mariyam Naseer" userId="eaec81efba0d81ec" providerId="LiveId" clId="{083C9E08-73DE-4F66-A009-8F1E5CAD9AEA}" dt="2026-09-22T16:49:56.918" v="691" actId="255"/>
        <pc:sldMkLst>
          <pc:docMk/>
          <pc:sldMk cId="1447636268" sldId="269"/>
        </pc:sldMkLst>
        <pc:spChg chg="mod">
          <ac:chgData name="Mariyam Naseer" userId="eaec81efba0d81ec" providerId="LiveId" clId="{083C9E08-73DE-4F66-A009-8F1E5CAD9AEA}" dt="2026-09-22T16:44:03.901" v="551" actId="113"/>
          <ac:spMkLst>
            <pc:docMk/>
            <pc:sldMk cId="1447636268" sldId="269"/>
            <ac:spMk id="2" creationId="{89B3BC8D-F797-50F2-C98E-C3C3C39394DD}"/>
          </ac:spMkLst>
        </pc:spChg>
        <pc:spChg chg="mod">
          <ac:chgData name="Mariyam Naseer" userId="eaec81efba0d81ec" providerId="LiveId" clId="{083C9E08-73DE-4F66-A009-8F1E5CAD9AEA}" dt="2026-09-22T16:49:56.918" v="691" actId="255"/>
          <ac:spMkLst>
            <pc:docMk/>
            <pc:sldMk cId="1447636268" sldId="269"/>
            <ac:spMk id="3" creationId="{60223FDB-2377-BA1D-C5DA-0440ACE0D583}"/>
          </ac:spMkLst>
        </pc:spChg>
      </pc:sldChg>
      <pc:sldChg chg="addSp modSp new mod">
        <pc:chgData name="Mariyam Naseer" userId="eaec81efba0d81ec" providerId="LiveId" clId="{083C9E08-73DE-4F66-A009-8F1E5CAD9AEA}" dt="2026-09-22T17:06:25.393" v="783" actId="113"/>
        <pc:sldMkLst>
          <pc:docMk/>
          <pc:sldMk cId="1386123309" sldId="270"/>
        </pc:sldMkLst>
        <pc:spChg chg="mod">
          <ac:chgData name="Mariyam Naseer" userId="eaec81efba0d81ec" providerId="LiveId" clId="{083C9E08-73DE-4F66-A009-8F1E5CAD9AEA}" dt="2026-09-22T17:06:25.393" v="783" actId="113"/>
          <ac:spMkLst>
            <pc:docMk/>
            <pc:sldMk cId="1386123309" sldId="270"/>
            <ac:spMk id="2" creationId="{C3438D64-1617-C6EE-D48F-F4819CCE1855}"/>
          </ac:spMkLst>
        </pc:spChg>
        <pc:spChg chg="mod">
          <ac:chgData name="Mariyam Naseer" userId="eaec81efba0d81ec" providerId="LiveId" clId="{083C9E08-73DE-4F66-A009-8F1E5CAD9AEA}" dt="2026-09-22T16:59:27.908" v="767" actId="20577"/>
          <ac:spMkLst>
            <pc:docMk/>
            <pc:sldMk cId="1386123309" sldId="270"/>
            <ac:spMk id="3" creationId="{BD8593EE-C955-A34D-0424-784D90AA73EB}"/>
          </ac:spMkLst>
        </pc:spChg>
        <pc:picChg chg="add mod">
          <ac:chgData name="Mariyam Naseer" userId="eaec81efba0d81ec" providerId="LiveId" clId="{083C9E08-73DE-4F66-A009-8F1E5CAD9AEA}" dt="2026-09-22T17:06:06.870" v="782" actId="1076"/>
          <ac:picMkLst>
            <pc:docMk/>
            <pc:sldMk cId="1386123309" sldId="270"/>
            <ac:picMk id="5" creationId="{87CE5DB0-FADF-AC23-E3FF-FDA606ECEE3C}"/>
          </ac:picMkLst>
        </pc:picChg>
      </pc:sldChg>
      <pc:sldChg chg="addSp delSp modSp new mod">
        <pc:chgData name="Mariyam Naseer" userId="eaec81efba0d81ec" providerId="LiveId" clId="{083C9E08-73DE-4F66-A009-8F1E5CAD9AEA}" dt="2026-09-24T12:04:03.452" v="874" actId="1076"/>
        <pc:sldMkLst>
          <pc:docMk/>
          <pc:sldMk cId="3011182587" sldId="271"/>
        </pc:sldMkLst>
        <pc:spChg chg="mod">
          <ac:chgData name="Mariyam Naseer" userId="eaec81efba0d81ec" providerId="LiveId" clId="{083C9E08-73DE-4F66-A009-8F1E5CAD9AEA}" dt="2026-09-24T11:51:11.969" v="808" actId="113"/>
          <ac:spMkLst>
            <pc:docMk/>
            <pc:sldMk cId="3011182587" sldId="271"/>
            <ac:spMk id="2" creationId="{E3B0857A-106B-7184-9916-91118A3B7475}"/>
          </ac:spMkLst>
        </pc:spChg>
        <pc:spChg chg="mod">
          <ac:chgData name="Mariyam Naseer" userId="eaec81efba0d81ec" providerId="LiveId" clId="{083C9E08-73DE-4F66-A009-8F1E5CAD9AEA}" dt="2026-09-24T12:01:10.649" v="865" actId="255"/>
          <ac:spMkLst>
            <pc:docMk/>
            <pc:sldMk cId="3011182587" sldId="271"/>
            <ac:spMk id="3" creationId="{D19390F6-72AB-B78D-322A-988513F622F6}"/>
          </ac:spMkLst>
        </pc:spChg>
        <pc:picChg chg="add del mod">
          <ac:chgData name="Mariyam Naseer" userId="eaec81efba0d81ec" providerId="LiveId" clId="{083C9E08-73DE-4F66-A009-8F1E5CAD9AEA}" dt="2026-09-24T12:02:22.068" v="866" actId="21"/>
          <ac:picMkLst>
            <pc:docMk/>
            <pc:sldMk cId="3011182587" sldId="271"/>
            <ac:picMk id="5" creationId="{D9D8DC6C-872A-FD4F-6366-0EA57B685CA9}"/>
          </ac:picMkLst>
        </pc:picChg>
        <pc:picChg chg="add mod">
          <ac:chgData name="Mariyam Naseer" userId="eaec81efba0d81ec" providerId="LiveId" clId="{083C9E08-73DE-4F66-A009-8F1E5CAD9AEA}" dt="2026-09-24T12:04:03.452" v="874" actId="1076"/>
          <ac:picMkLst>
            <pc:docMk/>
            <pc:sldMk cId="3011182587" sldId="271"/>
            <ac:picMk id="7" creationId="{7B3DE936-0EA3-DDA6-36EF-9EB19C4E10D1}"/>
          </ac:picMkLst>
        </pc:picChg>
      </pc:sldChg>
      <pc:sldChg chg="addSp modSp new mod">
        <pc:chgData name="Mariyam Naseer" userId="eaec81efba0d81ec" providerId="LiveId" clId="{083C9E08-73DE-4F66-A009-8F1E5CAD9AEA}" dt="2026-09-24T12:13:19.069" v="938" actId="1076"/>
        <pc:sldMkLst>
          <pc:docMk/>
          <pc:sldMk cId="4138793650" sldId="272"/>
        </pc:sldMkLst>
        <pc:spChg chg="mod">
          <ac:chgData name="Mariyam Naseer" userId="eaec81efba0d81ec" providerId="LiveId" clId="{083C9E08-73DE-4F66-A009-8F1E5CAD9AEA}" dt="2026-09-24T12:04:58.384" v="912" actId="113"/>
          <ac:spMkLst>
            <pc:docMk/>
            <pc:sldMk cId="4138793650" sldId="272"/>
            <ac:spMk id="2" creationId="{C8E42098-81BC-B62B-AF8A-1C2D5FC45826}"/>
          </ac:spMkLst>
        </pc:spChg>
        <pc:spChg chg="mod">
          <ac:chgData name="Mariyam Naseer" userId="eaec81efba0d81ec" providerId="LiveId" clId="{083C9E08-73DE-4F66-A009-8F1E5CAD9AEA}" dt="2026-09-24T12:13:10.664" v="937" actId="27636"/>
          <ac:spMkLst>
            <pc:docMk/>
            <pc:sldMk cId="4138793650" sldId="272"/>
            <ac:spMk id="3" creationId="{7DB0A2E4-F6F7-834B-32C6-290CE4346251}"/>
          </ac:spMkLst>
        </pc:spChg>
        <pc:picChg chg="add mod">
          <ac:chgData name="Mariyam Naseer" userId="eaec81efba0d81ec" providerId="LiveId" clId="{083C9E08-73DE-4F66-A009-8F1E5CAD9AEA}" dt="2026-09-24T12:13:19.069" v="938" actId="1076"/>
          <ac:picMkLst>
            <pc:docMk/>
            <pc:sldMk cId="4138793650" sldId="272"/>
            <ac:picMk id="5" creationId="{8BB42229-61EA-5DA9-8E10-B6D32F6DBFF0}"/>
          </ac:picMkLst>
        </pc:picChg>
      </pc:sldChg>
      <pc:sldChg chg="addSp modSp new mod">
        <pc:chgData name="Mariyam Naseer" userId="eaec81efba0d81ec" providerId="LiveId" clId="{083C9E08-73DE-4F66-A009-8F1E5CAD9AEA}" dt="2026-09-24T12:27:31.816" v="1076" actId="5793"/>
        <pc:sldMkLst>
          <pc:docMk/>
          <pc:sldMk cId="2518711117" sldId="273"/>
        </pc:sldMkLst>
        <pc:spChg chg="mod">
          <ac:chgData name="Mariyam Naseer" userId="eaec81efba0d81ec" providerId="LiveId" clId="{083C9E08-73DE-4F66-A009-8F1E5CAD9AEA}" dt="2026-09-24T12:15:39.333" v="987" actId="113"/>
          <ac:spMkLst>
            <pc:docMk/>
            <pc:sldMk cId="2518711117" sldId="273"/>
            <ac:spMk id="2" creationId="{F8C7CF6A-1B8A-3F3E-5E49-BEC6B18C3E86}"/>
          </ac:spMkLst>
        </pc:spChg>
        <pc:spChg chg="mod">
          <ac:chgData name="Mariyam Naseer" userId="eaec81efba0d81ec" providerId="LiveId" clId="{083C9E08-73DE-4F66-A009-8F1E5CAD9AEA}" dt="2026-09-24T12:27:31.816" v="1076" actId="5793"/>
          <ac:spMkLst>
            <pc:docMk/>
            <pc:sldMk cId="2518711117" sldId="273"/>
            <ac:spMk id="3" creationId="{AD9744E6-EBE9-159F-1307-75C20818C01B}"/>
          </ac:spMkLst>
        </pc:spChg>
        <pc:picChg chg="add mod">
          <ac:chgData name="Mariyam Naseer" userId="eaec81efba0d81ec" providerId="LiveId" clId="{083C9E08-73DE-4F66-A009-8F1E5CAD9AEA}" dt="2026-09-24T12:27:22.396" v="1075" actId="14100"/>
          <ac:picMkLst>
            <pc:docMk/>
            <pc:sldMk cId="2518711117" sldId="273"/>
            <ac:picMk id="5" creationId="{AB6AD1F3-5A20-615A-3199-ACD875420E17}"/>
          </ac:picMkLst>
        </pc:picChg>
      </pc:sldChg>
      <pc:sldChg chg="addSp delSp modSp new mod">
        <pc:chgData name="Mariyam Naseer" userId="eaec81efba0d81ec" providerId="LiveId" clId="{083C9E08-73DE-4F66-A009-8F1E5CAD9AEA}" dt="2026-09-24T13:04:43.641" v="1368" actId="255"/>
        <pc:sldMkLst>
          <pc:docMk/>
          <pc:sldMk cId="92739452" sldId="274"/>
        </pc:sldMkLst>
        <pc:spChg chg="mod">
          <ac:chgData name="Mariyam Naseer" userId="eaec81efba0d81ec" providerId="LiveId" clId="{083C9E08-73DE-4F66-A009-8F1E5CAD9AEA}" dt="2026-09-24T12:56:37.404" v="1306" actId="1076"/>
          <ac:spMkLst>
            <pc:docMk/>
            <pc:sldMk cId="92739452" sldId="274"/>
            <ac:spMk id="2" creationId="{89EDCCFE-4E90-A511-732D-17EE02D09B27}"/>
          </ac:spMkLst>
        </pc:spChg>
        <pc:spChg chg="mod">
          <ac:chgData name="Mariyam Naseer" userId="eaec81efba0d81ec" providerId="LiveId" clId="{083C9E08-73DE-4F66-A009-8F1E5CAD9AEA}" dt="2026-09-24T12:55:26.556" v="1292" actId="27636"/>
          <ac:spMkLst>
            <pc:docMk/>
            <pc:sldMk cId="92739452" sldId="274"/>
            <ac:spMk id="3" creationId="{A028F3D0-CAE1-1C98-D34F-83EDF25B9B52}"/>
          </ac:spMkLst>
        </pc:spChg>
        <pc:spChg chg="add del">
          <ac:chgData name="Mariyam Naseer" userId="eaec81efba0d81ec" providerId="LiveId" clId="{083C9E08-73DE-4F66-A009-8F1E5CAD9AEA}" dt="2026-09-24T12:39:26.839" v="1144" actId="478"/>
          <ac:spMkLst>
            <pc:docMk/>
            <pc:sldMk cId="92739452" sldId="274"/>
            <ac:spMk id="4" creationId="{118CB1B1-FB6F-66F5-351F-55394C1AF1F5}"/>
          </ac:spMkLst>
        </pc:spChg>
        <pc:spChg chg="add del mod">
          <ac:chgData name="Mariyam Naseer" userId="eaec81efba0d81ec" providerId="LiveId" clId="{083C9E08-73DE-4F66-A009-8F1E5CAD9AEA}" dt="2026-09-24T13:04:31.322" v="1366"/>
          <ac:spMkLst>
            <pc:docMk/>
            <pc:sldMk cId="92739452" sldId="274"/>
            <ac:spMk id="12" creationId="{7C433A18-A15D-29A2-BEDD-2A368DF1A4DF}"/>
          </ac:spMkLst>
        </pc:spChg>
        <pc:spChg chg="add mod">
          <ac:chgData name="Mariyam Naseer" userId="eaec81efba0d81ec" providerId="LiveId" clId="{083C9E08-73DE-4F66-A009-8F1E5CAD9AEA}" dt="2026-09-24T13:04:43.641" v="1368" actId="255"/>
          <ac:spMkLst>
            <pc:docMk/>
            <pc:sldMk cId="92739452" sldId="274"/>
            <ac:spMk id="14" creationId="{4735F4A8-370B-E230-CE0E-56F5BC13B8B8}"/>
          </ac:spMkLst>
        </pc:spChg>
        <pc:graphicFrameChg chg="add del mod modGraphic">
          <ac:chgData name="Mariyam Naseer" userId="eaec81efba0d81ec" providerId="LiveId" clId="{083C9E08-73DE-4F66-A009-8F1E5CAD9AEA}" dt="2026-09-24T12:45:12.606" v="1149" actId="478"/>
          <ac:graphicFrameMkLst>
            <pc:docMk/>
            <pc:sldMk cId="92739452" sldId="274"/>
            <ac:graphicFrameMk id="5" creationId="{8F283D37-206D-1115-92FA-D2EBD4E6B9E7}"/>
          </ac:graphicFrameMkLst>
        </pc:graphicFrameChg>
        <pc:graphicFrameChg chg="add del mod modGraphic">
          <ac:chgData name="Mariyam Naseer" userId="eaec81efba0d81ec" providerId="LiveId" clId="{083C9E08-73DE-4F66-A009-8F1E5CAD9AEA}" dt="2026-09-24T12:51:06.263" v="1274" actId="478"/>
          <ac:graphicFrameMkLst>
            <pc:docMk/>
            <pc:sldMk cId="92739452" sldId="274"/>
            <ac:graphicFrameMk id="6" creationId="{F03CB465-DC2C-D11C-B7B3-FED8E9833B80}"/>
          </ac:graphicFrameMkLst>
        </pc:graphicFrameChg>
        <pc:graphicFrameChg chg="add del mod modGraphic">
          <ac:chgData name="Mariyam Naseer" userId="eaec81efba0d81ec" providerId="LiveId" clId="{083C9E08-73DE-4F66-A009-8F1E5CAD9AEA}" dt="2026-09-24T12:53:13.111" v="1280" actId="478"/>
          <ac:graphicFrameMkLst>
            <pc:docMk/>
            <pc:sldMk cId="92739452" sldId="274"/>
            <ac:graphicFrameMk id="9" creationId="{18D4247B-8E1B-426B-F2FC-26CAEA14F575}"/>
          </ac:graphicFrameMkLst>
        </pc:graphicFrameChg>
        <pc:graphicFrameChg chg="add mod modGraphic">
          <ac:chgData name="Mariyam Naseer" userId="eaec81efba0d81ec" providerId="LiveId" clId="{083C9E08-73DE-4F66-A009-8F1E5CAD9AEA}" dt="2026-09-24T13:03:23.566" v="1354" actId="14100"/>
          <ac:graphicFrameMkLst>
            <pc:docMk/>
            <pc:sldMk cId="92739452" sldId="274"/>
            <ac:graphicFrameMk id="10" creationId="{5A606236-F04F-D0F9-6619-D041FA03CBC7}"/>
          </ac:graphicFrameMkLst>
        </pc:graphicFrameChg>
      </pc:sldChg>
      <pc:sldChg chg="addSp delSp modSp new mod">
        <pc:chgData name="Mariyam Naseer" userId="eaec81efba0d81ec" providerId="LiveId" clId="{083C9E08-73DE-4F66-A009-8F1E5CAD9AEA}" dt="2026-09-24T14:39:04.766" v="1739" actId="1076"/>
        <pc:sldMkLst>
          <pc:docMk/>
          <pc:sldMk cId="2985472006" sldId="275"/>
        </pc:sldMkLst>
        <pc:spChg chg="mod">
          <ac:chgData name="Mariyam Naseer" userId="eaec81efba0d81ec" providerId="LiveId" clId="{083C9E08-73DE-4F66-A009-8F1E5CAD9AEA}" dt="2026-09-24T13:26:04.511" v="1510" actId="113"/>
          <ac:spMkLst>
            <pc:docMk/>
            <pc:sldMk cId="2985472006" sldId="275"/>
            <ac:spMk id="2" creationId="{68FFFCF1-D38E-9508-5758-451747AA0E4B}"/>
          </ac:spMkLst>
        </pc:spChg>
        <pc:spChg chg="del">
          <ac:chgData name="Mariyam Naseer" userId="eaec81efba0d81ec" providerId="LiveId" clId="{083C9E08-73DE-4F66-A009-8F1E5CAD9AEA}" dt="2026-09-24T13:13:06.858" v="1470" actId="22"/>
          <ac:spMkLst>
            <pc:docMk/>
            <pc:sldMk cId="2985472006" sldId="275"/>
            <ac:spMk id="3" creationId="{F4ECC3F9-1AE9-615A-028A-89E75EAD79F8}"/>
          </ac:spMkLst>
        </pc:spChg>
        <pc:spChg chg="mod">
          <ac:chgData name="Mariyam Naseer" userId="eaec81efba0d81ec" providerId="LiveId" clId="{083C9E08-73DE-4F66-A009-8F1E5CAD9AEA}" dt="2026-09-24T14:38:52.148" v="1737" actId="27636"/>
          <ac:spMkLst>
            <pc:docMk/>
            <pc:sldMk cId="2985472006" sldId="275"/>
            <ac:spMk id="4" creationId="{2D3CAC6B-5AD3-5A09-9AA8-D4379DDBC195}"/>
          </ac:spMkLst>
        </pc:spChg>
        <pc:spChg chg="add del mod">
          <ac:chgData name="Mariyam Naseer" userId="eaec81efba0d81ec" providerId="LiveId" clId="{083C9E08-73DE-4F66-A009-8F1E5CAD9AEA}" dt="2026-09-24T13:13:56.609" v="1473" actId="22"/>
          <ac:spMkLst>
            <pc:docMk/>
            <pc:sldMk cId="2985472006" sldId="275"/>
            <ac:spMk id="8" creationId="{0E47C533-6C4B-9AA6-A087-94741788409E}"/>
          </ac:spMkLst>
        </pc:spChg>
        <pc:spChg chg="add del mod">
          <ac:chgData name="Mariyam Naseer" userId="eaec81efba0d81ec" providerId="LiveId" clId="{083C9E08-73DE-4F66-A009-8F1E5CAD9AEA}" dt="2026-09-24T13:14:35.541" v="1476" actId="22"/>
          <ac:spMkLst>
            <pc:docMk/>
            <pc:sldMk cId="2985472006" sldId="275"/>
            <ac:spMk id="12" creationId="{700D7C4C-4E3D-B7D4-DD99-2A21F73CC13F}"/>
          </ac:spMkLst>
        </pc:spChg>
        <pc:spChg chg="add del mod">
          <ac:chgData name="Mariyam Naseer" userId="eaec81efba0d81ec" providerId="LiveId" clId="{083C9E08-73DE-4F66-A009-8F1E5CAD9AEA}" dt="2026-09-24T13:15:47.355" v="1484"/>
          <ac:spMkLst>
            <pc:docMk/>
            <pc:sldMk cId="2985472006" sldId="275"/>
            <ac:spMk id="15" creationId="{F50FB0A7-5A28-CB0A-D8CF-CE2ED9DA8D0E}"/>
          </ac:spMkLst>
        </pc:spChg>
        <pc:spChg chg="add del mod">
          <ac:chgData name="Mariyam Naseer" userId="eaec81efba0d81ec" providerId="LiveId" clId="{083C9E08-73DE-4F66-A009-8F1E5CAD9AEA}" dt="2026-09-24T13:19:18.656" v="1491" actId="22"/>
          <ac:spMkLst>
            <pc:docMk/>
            <pc:sldMk cId="2985472006" sldId="275"/>
            <ac:spMk id="17" creationId="{5A1358C0-9C15-72DD-6BEF-9C861F968AA0}"/>
          </ac:spMkLst>
        </pc:spChg>
        <pc:spChg chg="add del mod">
          <ac:chgData name="Mariyam Naseer" userId="eaec81efba0d81ec" providerId="LiveId" clId="{083C9E08-73DE-4F66-A009-8F1E5CAD9AEA}" dt="2026-09-24T13:20:00.165" v="1494" actId="22"/>
          <ac:spMkLst>
            <pc:docMk/>
            <pc:sldMk cId="2985472006" sldId="275"/>
            <ac:spMk id="21" creationId="{406AC631-8C32-7E87-D91F-DA405D867731}"/>
          </ac:spMkLst>
        </pc:spChg>
        <pc:spChg chg="add mod">
          <ac:chgData name="Mariyam Naseer" userId="eaec81efba0d81ec" providerId="LiveId" clId="{083C9E08-73DE-4F66-A009-8F1E5CAD9AEA}" dt="2026-09-24T13:37:21.365" v="1568" actId="255"/>
          <ac:spMkLst>
            <pc:docMk/>
            <pc:sldMk cId="2985472006" sldId="275"/>
            <ac:spMk id="24" creationId="{98409BA5-50C6-B097-0FB4-55F74050B864}"/>
          </ac:spMkLst>
        </pc:spChg>
        <pc:picChg chg="add del mod ord">
          <ac:chgData name="Mariyam Naseer" userId="eaec81efba0d81ec" providerId="LiveId" clId="{083C9E08-73DE-4F66-A009-8F1E5CAD9AEA}" dt="2026-09-24T13:13:24.264" v="1472" actId="478"/>
          <ac:picMkLst>
            <pc:docMk/>
            <pc:sldMk cId="2985472006" sldId="275"/>
            <ac:picMk id="6" creationId="{EB480D1B-E730-2EF0-AD05-458AF7B1E2F4}"/>
          </ac:picMkLst>
        </pc:picChg>
        <pc:picChg chg="add del mod ord">
          <ac:chgData name="Mariyam Naseer" userId="eaec81efba0d81ec" providerId="LiveId" clId="{083C9E08-73DE-4F66-A009-8F1E5CAD9AEA}" dt="2026-09-24T13:14:08.997" v="1475" actId="478"/>
          <ac:picMkLst>
            <pc:docMk/>
            <pc:sldMk cId="2985472006" sldId="275"/>
            <ac:picMk id="10" creationId="{54C9257E-6051-7273-7B8C-65320A0FB5AE}"/>
          </ac:picMkLst>
        </pc:picChg>
        <pc:picChg chg="add del mod ord">
          <ac:chgData name="Mariyam Naseer" userId="eaec81efba0d81ec" providerId="LiveId" clId="{083C9E08-73DE-4F66-A009-8F1E5CAD9AEA}" dt="2026-09-24T13:18:32.754" v="1490" actId="478"/>
          <ac:picMkLst>
            <pc:docMk/>
            <pc:sldMk cId="2985472006" sldId="275"/>
            <ac:picMk id="14" creationId="{22605115-E5CE-43F5-9AD0-22754C21AF80}"/>
          </ac:picMkLst>
        </pc:picChg>
        <pc:picChg chg="add del mod ord">
          <ac:chgData name="Mariyam Naseer" userId="eaec81efba0d81ec" providerId="LiveId" clId="{083C9E08-73DE-4F66-A009-8F1E5CAD9AEA}" dt="2026-09-24T13:19:26.481" v="1493" actId="478"/>
          <ac:picMkLst>
            <pc:docMk/>
            <pc:sldMk cId="2985472006" sldId="275"/>
            <ac:picMk id="19" creationId="{3D0ED950-CD25-16D3-10A9-D8EFF20371B9}"/>
          </ac:picMkLst>
        </pc:picChg>
        <pc:picChg chg="add mod ord">
          <ac:chgData name="Mariyam Naseer" userId="eaec81efba0d81ec" providerId="LiveId" clId="{083C9E08-73DE-4F66-A009-8F1E5CAD9AEA}" dt="2026-09-24T13:39:20.143" v="1579" actId="1076"/>
          <ac:picMkLst>
            <pc:docMk/>
            <pc:sldMk cId="2985472006" sldId="275"/>
            <ac:picMk id="23" creationId="{E9467F48-6A46-0E8E-A3CA-EBC586D4DE79}"/>
          </ac:picMkLst>
        </pc:picChg>
        <pc:picChg chg="add mod">
          <ac:chgData name="Mariyam Naseer" userId="eaec81efba0d81ec" providerId="LiveId" clId="{083C9E08-73DE-4F66-A009-8F1E5CAD9AEA}" dt="2026-09-24T14:39:04.766" v="1739" actId="1076"/>
          <ac:picMkLst>
            <pc:docMk/>
            <pc:sldMk cId="2985472006" sldId="275"/>
            <ac:picMk id="26" creationId="{4E108C75-7CAC-790C-089F-39D1423E1D52}"/>
          </ac:picMkLst>
        </pc:picChg>
      </pc:sldChg>
      <pc:sldChg chg="delSp modSp new del mod">
        <pc:chgData name="Mariyam Naseer" userId="eaec81efba0d81ec" providerId="LiveId" clId="{083C9E08-73DE-4F66-A009-8F1E5CAD9AEA}" dt="2026-09-24T13:08:07.479" v="1424" actId="2696"/>
        <pc:sldMkLst>
          <pc:docMk/>
          <pc:sldMk cId="3060638317" sldId="275"/>
        </pc:sldMkLst>
        <pc:spChg chg="del mod">
          <ac:chgData name="Mariyam Naseer" userId="eaec81efba0d81ec" providerId="LiveId" clId="{083C9E08-73DE-4F66-A009-8F1E5CAD9AEA}" dt="2026-09-24T13:07:58.177" v="1423" actId="21"/>
          <ac:spMkLst>
            <pc:docMk/>
            <pc:sldMk cId="3060638317" sldId="275"/>
            <ac:spMk id="2" creationId="{540AF700-B471-B6CD-709C-EB4102DFA57B}"/>
          </ac:spMkLst>
        </pc:spChg>
        <pc:spChg chg="mod">
          <ac:chgData name="Mariyam Naseer" userId="eaec81efba0d81ec" providerId="LiveId" clId="{083C9E08-73DE-4F66-A009-8F1E5CAD9AEA}" dt="2026-09-24T13:07:31.585" v="1414" actId="14100"/>
          <ac:spMkLst>
            <pc:docMk/>
            <pc:sldMk cId="3060638317" sldId="275"/>
            <ac:spMk id="3" creationId="{311D3D04-9D3B-AFD3-A076-5C86D79D3DA5}"/>
          </ac:spMkLst>
        </pc:spChg>
      </pc:sldChg>
      <pc:sldChg chg="addSp delSp modSp new mod">
        <pc:chgData name="Mariyam Naseer" userId="eaec81efba0d81ec" providerId="LiveId" clId="{083C9E08-73DE-4F66-A009-8F1E5CAD9AEA}" dt="2026-09-24T14:40:36.551" v="1748" actId="20577"/>
        <pc:sldMkLst>
          <pc:docMk/>
          <pc:sldMk cId="307391375" sldId="276"/>
        </pc:sldMkLst>
        <pc:spChg chg="mod">
          <ac:chgData name="Mariyam Naseer" userId="eaec81efba0d81ec" providerId="LiveId" clId="{083C9E08-73DE-4F66-A009-8F1E5CAD9AEA}" dt="2026-09-24T14:40:36.551" v="1748" actId="20577"/>
          <ac:spMkLst>
            <pc:docMk/>
            <pc:sldMk cId="307391375" sldId="276"/>
            <ac:spMk id="2" creationId="{556D38EB-B529-F958-8F75-52502B3DA0C3}"/>
          </ac:spMkLst>
        </pc:spChg>
        <pc:spChg chg="del">
          <ac:chgData name="Mariyam Naseer" userId="eaec81efba0d81ec" providerId="LiveId" clId="{083C9E08-73DE-4F66-A009-8F1E5CAD9AEA}" dt="2026-09-24T14:13:03.262" v="1637" actId="22"/>
          <ac:spMkLst>
            <pc:docMk/>
            <pc:sldMk cId="307391375" sldId="276"/>
            <ac:spMk id="3" creationId="{9D08F179-9AFB-1C80-E76A-8F2B52E5E9F7}"/>
          </ac:spMkLst>
        </pc:spChg>
        <pc:spChg chg="mod">
          <ac:chgData name="Mariyam Naseer" userId="eaec81efba0d81ec" providerId="LiveId" clId="{083C9E08-73DE-4F66-A009-8F1E5CAD9AEA}" dt="2026-09-24T14:40:05.759" v="1746" actId="14100"/>
          <ac:spMkLst>
            <pc:docMk/>
            <pc:sldMk cId="307391375" sldId="276"/>
            <ac:spMk id="4" creationId="{DB70C680-2365-2E83-E2BE-23A013989C85}"/>
          </ac:spMkLst>
        </pc:spChg>
        <pc:spChg chg="add mod">
          <ac:chgData name="Mariyam Naseer" userId="eaec81efba0d81ec" providerId="LiveId" clId="{083C9E08-73DE-4F66-A009-8F1E5CAD9AEA}" dt="2026-09-24T14:30:14.198" v="1703" actId="14100"/>
          <ac:spMkLst>
            <pc:docMk/>
            <pc:sldMk cId="307391375" sldId="276"/>
            <ac:spMk id="9" creationId="{0B81F141-EAC3-C4E2-03D1-B738615FE51B}"/>
          </ac:spMkLst>
        </pc:spChg>
        <pc:picChg chg="add mod ord">
          <ac:chgData name="Mariyam Naseer" userId="eaec81efba0d81ec" providerId="LiveId" clId="{083C9E08-73DE-4F66-A009-8F1E5CAD9AEA}" dt="2026-09-24T14:30:26.656" v="1705" actId="14100"/>
          <ac:picMkLst>
            <pc:docMk/>
            <pc:sldMk cId="307391375" sldId="276"/>
            <ac:picMk id="6" creationId="{EFAE8BBB-EB09-92A7-FBA6-FE9F5E5C8BE1}"/>
          </ac:picMkLst>
        </pc:picChg>
        <pc:picChg chg="add mod">
          <ac:chgData name="Mariyam Naseer" userId="eaec81efba0d81ec" providerId="LiveId" clId="{083C9E08-73DE-4F66-A009-8F1E5CAD9AEA}" dt="2026-09-24T14:30:33.163" v="1706" actId="14100"/>
          <ac:picMkLst>
            <pc:docMk/>
            <pc:sldMk cId="307391375" sldId="276"/>
            <ac:picMk id="8" creationId="{2E45B107-DD53-17C9-852C-D738A6832953}"/>
          </ac:picMkLst>
        </pc:picChg>
        <pc:picChg chg="add mod">
          <ac:chgData name="Mariyam Naseer" userId="eaec81efba0d81ec" providerId="LiveId" clId="{083C9E08-73DE-4F66-A009-8F1E5CAD9AEA}" dt="2026-09-24T14:30:43.105" v="1707" actId="1076"/>
          <ac:picMkLst>
            <pc:docMk/>
            <pc:sldMk cId="307391375" sldId="276"/>
            <ac:picMk id="11" creationId="{6C033941-2775-1A7D-00CF-5469BFF1D17D}"/>
          </ac:picMkLst>
        </pc:picChg>
      </pc:sldChg>
      <pc:sldChg chg="addSp delSp modSp new mod">
        <pc:chgData name="Mariyam Naseer" userId="eaec81efba0d81ec" providerId="LiveId" clId="{083C9E08-73DE-4F66-A009-8F1E5CAD9AEA}" dt="2026-09-24T15:15:01.646" v="1859" actId="27636"/>
        <pc:sldMkLst>
          <pc:docMk/>
          <pc:sldMk cId="3290828298" sldId="277"/>
        </pc:sldMkLst>
        <pc:spChg chg="mod">
          <ac:chgData name="Mariyam Naseer" userId="eaec81efba0d81ec" providerId="LiveId" clId="{083C9E08-73DE-4F66-A009-8F1E5CAD9AEA}" dt="2026-09-24T15:09:33.314" v="1842" actId="14100"/>
          <ac:spMkLst>
            <pc:docMk/>
            <pc:sldMk cId="3290828298" sldId="277"/>
            <ac:spMk id="2" creationId="{20DEDAD0-BFF5-E265-9810-FFF47B17EF8B}"/>
          </ac:spMkLst>
        </pc:spChg>
        <pc:spChg chg="mod">
          <ac:chgData name="Mariyam Naseer" userId="eaec81efba0d81ec" providerId="LiveId" clId="{083C9E08-73DE-4F66-A009-8F1E5CAD9AEA}" dt="2026-09-24T15:15:01.646" v="1859" actId="27636"/>
          <ac:spMkLst>
            <pc:docMk/>
            <pc:sldMk cId="3290828298" sldId="277"/>
            <ac:spMk id="3" creationId="{FECBDA64-3A84-E6DA-3F2C-5CFB7B7E41C7}"/>
          </ac:spMkLst>
        </pc:spChg>
        <pc:spChg chg="del mod">
          <ac:chgData name="Mariyam Naseer" userId="eaec81efba0d81ec" providerId="LiveId" clId="{083C9E08-73DE-4F66-A009-8F1E5CAD9AEA}" dt="2026-09-24T15:12:19.757" v="1852" actId="931"/>
          <ac:spMkLst>
            <pc:docMk/>
            <pc:sldMk cId="3290828298" sldId="277"/>
            <ac:spMk id="4" creationId="{15261F48-8B75-B20C-8031-B53448A5B6F7}"/>
          </ac:spMkLst>
        </pc:spChg>
        <pc:spChg chg="add mod">
          <ac:chgData name="Mariyam Naseer" userId="eaec81efba0d81ec" providerId="LiveId" clId="{083C9E08-73DE-4F66-A009-8F1E5CAD9AEA}" dt="2026-09-24T14:49:57.137" v="1817" actId="14100"/>
          <ac:spMkLst>
            <pc:docMk/>
            <pc:sldMk cId="3290828298" sldId="277"/>
            <ac:spMk id="5" creationId="{62A34DC7-F320-A584-55DE-63BC93134A0F}"/>
          </ac:spMkLst>
        </pc:spChg>
        <pc:spChg chg="add mod">
          <ac:chgData name="Mariyam Naseer" userId="eaec81efba0d81ec" providerId="LiveId" clId="{083C9E08-73DE-4F66-A009-8F1E5CAD9AEA}" dt="2026-09-24T14:49:52.867" v="1816" actId="14100"/>
          <ac:spMkLst>
            <pc:docMk/>
            <pc:sldMk cId="3290828298" sldId="277"/>
            <ac:spMk id="6" creationId="{8FF6E963-49F8-9192-630E-96E0A0EEC001}"/>
          </ac:spMkLst>
        </pc:spChg>
        <pc:spChg chg="add mod">
          <ac:chgData name="Mariyam Naseer" userId="eaec81efba0d81ec" providerId="LiveId" clId="{083C9E08-73DE-4F66-A009-8F1E5CAD9AEA}" dt="2026-09-24T14:50:09.704" v="1819" actId="14100"/>
          <ac:spMkLst>
            <pc:docMk/>
            <pc:sldMk cId="3290828298" sldId="277"/>
            <ac:spMk id="7" creationId="{1EDC9B2F-7AFB-DA2A-1BB2-E8E656223972}"/>
          </ac:spMkLst>
        </pc:spChg>
        <pc:spChg chg="add mod">
          <ac:chgData name="Mariyam Naseer" userId="eaec81efba0d81ec" providerId="LiveId" clId="{083C9E08-73DE-4F66-A009-8F1E5CAD9AEA}" dt="2026-09-24T15:10:57.864" v="1851" actId="13926"/>
          <ac:spMkLst>
            <pc:docMk/>
            <pc:sldMk cId="3290828298" sldId="277"/>
            <ac:spMk id="8" creationId="{97DA7675-2418-3907-74E5-7FE431401A68}"/>
          </ac:spMkLst>
        </pc:spChg>
        <pc:picChg chg="add mod">
          <ac:chgData name="Mariyam Naseer" userId="eaec81efba0d81ec" providerId="LiveId" clId="{083C9E08-73DE-4F66-A009-8F1E5CAD9AEA}" dt="2026-09-24T15:12:19.757" v="1852" actId="931"/>
          <ac:picMkLst>
            <pc:docMk/>
            <pc:sldMk cId="3290828298" sldId="277"/>
            <ac:picMk id="10" creationId="{160ADB6D-BD9B-6B6F-72DB-A0BBF619A07A}"/>
          </ac:picMkLst>
        </pc:picChg>
        <pc:picChg chg="add mod">
          <ac:chgData name="Mariyam Naseer" userId="eaec81efba0d81ec" providerId="LiveId" clId="{083C9E08-73DE-4F66-A009-8F1E5CAD9AEA}" dt="2026-09-24T15:14:44.062" v="1857" actId="1076"/>
          <ac:picMkLst>
            <pc:docMk/>
            <pc:sldMk cId="3290828298" sldId="277"/>
            <ac:picMk id="12" creationId="{D56F0C69-1D77-1EB3-D7D0-E30FA1B946FA}"/>
          </ac:picMkLst>
        </pc:picChg>
      </pc:sldChg>
      <pc:sldChg chg="new">
        <pc:chgData name="Mariyam Naseer" userId="eaec81efba0d81ec" providerId="LiveId" clId="{083C9E08-73DE-4F66-A009-8F1E5CAD9AEA}" dt="2026-09-24T15:16:37.936" v="1860" actId="680"/>
        <pc:sldMkLst>
          <pc:docMk/>
          <pc:sldMk cId="3074739774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5B150-7231-4C94-8E1F-C724633C775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2C918-9997-43D8-8DF3-10C19D85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0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2C918-9997-43D8-8DF3-10C19D85A5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6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97A8-8A6D-36D5-91CF-4A07A54E9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FF98-4325-B6DE-BDA8-49FBD2B9A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3AF44-1F17-DB31-79CE-9D6CE92A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5F4A6-DE53-24F3-9DD0-916396F5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96722-F8CF-AFBA-63E3-B2886470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4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4B00-9B92-BCAE-2276-DC663F75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ED30-EE53-2AB6-8D7E-7419E703E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4B5CF-A2C0-010C-DE1D-3031CF37E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B9DC-CB4C-4EFA-2E93-F3C5F273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ED963-2082-EDFC-6B39-9C89F95E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B9EA-D23B-F77C-C1FE-2B3B84A8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9E1C7-D94D-AE2B-61E2-7999920EF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63729-2849-E75A-B767-DF8772FA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94F04-5987-E6D2-A31C-14EF29E8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791A2-F32A-9AF1-E4B3-2C07D59C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84D3-C5B8-03A1-964D-1BA27ECB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84443-609C-4089-BD12-5744F90F7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ABDC2-CBC6-439A-DEE2-C42CDE531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D7C6E-5F0E-4A57-FC5F-8DEA3B5E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0344C-2552-7058-9DD0-3E85CD56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09888-8080-B264-1DC0-E91F955F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7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5DC9-CF9B-8978-BF6A-9EDF7EF6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180FD-B6E4-54D9-AFE4-B14C36329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22C62-E26E-FA16-ADF1-E7166C908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85495-6DC2-4851-B3BF-22E578E50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2A528-012B-9A9A-607C-9F4971018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AED20-9B67-DABD-FC1F-DC2CDAEA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188DA-5463-C65C-5813-81757584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378A0-0E98-B94D-77CC-F791DA470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6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0915-C1F1-8440-741D-34DA8AE5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6B902-2D3A-0C54-59E1-3BAA3AAA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30364-1F97-98AF-2403-5C2532EB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412A9-611E-2DB3-BD5A-6D734A11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4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5E6AA-77DE-2FD9-A42E-5DB5442E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6992F-6A3D-4C4F-D383-B7FAAF9C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95F1F-2441-400D-F8BE-358F1F60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0E58-CB62-758E-1094-6C040ED1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6FCB-ECAD-AB8A-7EF3-AB999E90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C834-DF9F-3043-B1E6-AB2F71101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61FB7-310B-3E02-70D9-B78F8F39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CFDE6-4EBD-5D58-83D5-EC4B6B1C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21FD2-7E0D-088C-777C-D5A63382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7CFC-9BFE-A482-2245-6493E85E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CE043D-47A1-F615-F556-A8A33F926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6227B-9C14-F0D0-7A53-3E884919A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6F04D-F3C5-7B1C-C33B-8F42B628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3F6D0-7442-DB9F-3006-789268BC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7753B-A3F9-03D0-4113-5138FB0D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7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966C-66C5-1218-D827-89BAFEBA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E5281-F885-781D-E4FC-48A585389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26BE9-52DB-9B7F-5557-3ED65005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0FA10-012C-8108-9BB3-47234AF38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42346-D16B-0E75-A201-99C78F0E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5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24D73-6307-D766-ACE8-55126ED96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4B0FC-F40A-ABEA-1015-51F390D84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482FF-7683-F9A6-2EEC-F263406C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0AC1-20BF-4A76-F64B-6B12FAAB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06584-5F78-7FB2-B492-82FF555F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9337A-FD15-9EA6-7E25-ADB47E64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FFF8E-F045-3693-01D2-06E347065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7EC2C-003A-FEE7-42B4-F80CA4A29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BAB9E-A09F-4DDC-85DE-D5CF4DDA459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F67F2-4452-E1BD-0BDA-899CC9EC7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F2E70-5BB6-0F59-C163-C1B6AF3F9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D68C4-032C-49C2-92EF-74164FCAF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3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830C-1015-E822-9775-F9D652CDB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BEFORE THE BREAKDOWN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20235-5BA4-5F4F-4E97-BF1F4531F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Supply Chain Risk &amp; Resilience Analytics</a:t>
            </a:r>
          </a:p>
          <a:p>
            <a:r>
              <a:rPr lang="en-US" dirty="0"/>
              <a:t>Internship Project-Data Analytics</a:t>
            </a:r>
          </a:p>
          <a:p>
            <a:r>
              <a:rPr lang="en-US" dirty="0"/>
              <a:t>Internship period: 15 August 2026 – 15 October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75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80780-610C-55AB-174C-6385FF7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Internship &amp;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9DDE6-1DCD-916A-C21C-ACB40CAF8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Organization: Alpha Innovation Private Limited</a:t>
            </a:r>
          </a:p>
          <a:p>
            <a:r>
              <a:rPr lang="en-US" dirty="0"/>
              <a:t>Domain: Data Analytics</a:t>
            </a:r>
          </a:p>
          <a:p>
            <a:r>
              <a:rPr lang="en-US" dirty="0"/>
              <a:t>Internship Duration: 15 August 2026- 15 October 2026</a:t>
            </a:r>
          </a:p>
          <a:p>
            <a:r>
              <a:rPr lang="en-US" dirty="0"/>
              <a:t>Project Title: Supply Chain Risk &amp; Resilience Analytics</a:t>
            </a:r>
          </a:p>
          <a:p>
            <a:r>
              <a:rPr lang="en-US" dirty="0"/>
              <a:t>Project Type: Data Analytics Internship Project</a:t>
            </a:r>
          </a:p>
          <a:p>
            <a:endParaRPr lang="en-US" dirty="0"/>
          </a:p>
          <a:p>
            <a:r>
              <a:rPr lang="en-US" dirty="0"/>
              <a:t>Student Name: Mariyam Naseer</a:t>
            </a:r>
          </a:p>
          <a:p>
            <a:r>
              <a:rPr lang="en-US" dirty="0"/>
              <a:t>Course: Bachelor Of Computer Application</a:t>
            </a:r>
          </a:p>
          <a:p>
            <a:r>
              <a:rPr lang="en-US" dirty="0"/>
              <a:t>College: Integral University</a:t>
            </a:r>
          </a:p>
        </p:txBody>
      </p:sp>
    </p:spTree>
    <p:extLst>
      <p:ext uri="{BB962C8B-B14F-4D97-AF65-F5344CB8AC3E}">
        <p14:creationId xmlns:p14="http://schemas.microsoft.com/office/powerpoint/2010/main" val="119771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705D-2D00-7B02-2ACA-2298BB26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1BCEC-994B-7BE5-EB3D-FA0CBAD5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Alpha Innovation Private Limited</a:t>
            </a:r>
            <a:r>
              <a:rPr lang="en-US" dirty="0"/>
              <a:t> provided an internship environment focused on practical learning and application of data analytics concepts.</a:t>
            </a:r>
          </a:p>
          <a:p>
            <a:r>
              <a:rPr lang="en-US" dirty="0"/>
              <a:t>During the internship, the project involved:</a:t>
            </a:r>
          </a:p>
          <a:p>
            <a:pPr marL="0" indent="0">
              <a:buNone/>
            </a:pPr>
            <a:r>
              <a:rPr lang="en-US" dirty="0"/>
              <a:t>• Working with business-related datasets</a:t>
            </a:r>
            <a:br>
              <a:rPr lang="en-US" dirty="0"/>
            </a:br>
            <a:r>
              <a:rPr lang="en-US" dirty="0"/>
              <a:t>• Data cleaning and transformation</a:t>
            </a:r>
            <a:br>
              <a:rPr lang="en-US" dirty="0"/>
            </a:br>
            <a:r>
              <a:rPr lang="en-US" dirty="0"/>
              <a:t>• Data analysis</a:t>
            </a:r>
            <a:br>
              <a:rPr lang="en-US" dirty="0"/>
            </a:br>
            <a:r>
              <a:rPr lang="en-US" dirty="0"/>
              <a:t>• Risk identification</a:t>
            </a:r>
            <a:br>
              <a:rPr lang="en-US" dirty="0"/>
            </a:br>
            <a:r>
              <a:rPr lang="en-US" dirty="0"/>
              <a:t>• Dashboard development</a:t>
            </a:r>
            <a:br>
              <a:rPr lang="en-US" dirty="0"/>
            </a:br>
            <a:r>
              <a:rPr lang="en-US" dirty="0"/>
              <a:t>• Extracting meaningful business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7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6328-F5E0-D54E-C262-DC87DB8C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7E73D-49F5-3929-9B9F-8E85C40A9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Supply chain management involves suppliers, inventory, transportation, deliveries and other operational activities.</a:t>
            </a:r>
          </a:p>
          <a:p>
            <a:r>
              <a:rPr lang="en-US" dirty="0"/>
              <a:t>Any disruption in these activities can affect:</a:t>
            </a:r>
          </a:p>
          <a:p>
            <a:pPr marL="0" indent="0">
              <a:buNone/>
            </a:pPr>
            <a:r>
              <a:rPr lang="en-US" dirty="0"/>
              <a:t>• Product availability</a:t>
            </a:r>
            <a:br>
              <a:rPr lang="en-US" dirty="0"/>
            </a:br>
            <a:r>
              <a:rPr lang="en-US" dirty="0"/>
              <a:t>• Delivery time</a:t>
            </a:r>
            <a:br>
              <a:rPr lang="en-US" dirty="0"/>
            </a:br>
            <a:r>
              <a:rPr lang="en-US" dirty="0"/>
              <a:t>• Inventory levels</a:t>
            </a:r>
            <a:br>
              <a:rPr lang="en-US" dirty="0"/>
            </a:br>
            <a:r>
              <a:rPr lang="en-US" dirty="0"/>
              <a:t>• Supplier performance</a:t>
            </a:r>
            <a:br>
              <a:rPr lang="en-US" dirty="0"/>
            </a:br>
            <a:r>
              <a:rPr lang="en-US" dirty="0"/>
              <a:t>• Business costs</a:t>
            </a:r>
          </a:p>
          <a:p>
            <a:r>
              <a:rPr lang="en-US" dirty="0"/>
              <a:t>This project uses data analytics to identify major supply-chain risk areas and support better business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3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CC797-7827-CDA8-1475-1205A990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 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B1BA-50E6-7F65-7B9C-7D361417A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Supply-chain operations can face different types of risks such as:</a:t>
            </a:r>
          </a:p>
          <a:p>
            <a:pPr marL="0" indent="0">
              <a:buNone/>
            </a:pPr>
            <a:r>
              <a:rPr lang="en-US" dirty="0"/>
              <a:t>• Delivery delays</a:t>
            </a:r>
            <a:br>
              <a:rPr lang="en-US" dirty="0"/>
            </a:br>
            <a:r>
              <a:rPr lang="en-US" dirty="0"/>
              <a:t>• Low inventory availability</a:t>
            </a:r>
            <a:br>
              <a:rPr lang="en-US" dirty="0"/>
            </a:br>
            <a:r>
              <a:rPr lang="en-US" dirty="0"/>
              <a:t>• Supplier reliability issues</a:t>
            </a:r>
            <a:br>
              <a:rPr lang="en-US" dirty="0"/>
            </a:br>
            <a:r>
              <a:rPr lang="en-US" dirty="0"/>
              <a:t>• Transportation-related risks</a:t>
            </a:r>
            <a:br>
              <a:rPr lang="en-US" dirty="0"/>
            </a:br>
            <a:r>
              <a:rPr lang="en-US" dirty="0"/>
              <a:t>• External disruptions</a:t>
            </a:r>
          </a:p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How can data analytics be used to identify major supply-chain risks and determine the areas that require attention?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058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C431-7FA4-75C6-BE0A-5FB71987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               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30C75-69EB-0D08-12F5-69E3374E8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main objectives of this project are:</a:t>
            </a:r>
          </a:p>
          <a:p>
            <a:r>
              <a:rPr lang="en-US" dirty="0"/>
              <a:t>To clean and prepare supply-chain data.</a:t>
            </a:r>
            <a:br>
              <a:rPr lang="en-US" dirty="0"/>
            </a:br>
            <a:r>
              <a:rPr lang="en-US" dirty="0"/>
              <a:t>• To analyze delivery performance.</a:t>
            </a:r>
            <a:br>
              <a:rPr lang="en-US" dirty="0"/>
            </a:br>
            <a:r>
              <a:rPr lang="en-US" dirty="0"/>
              <a:t>• To identify inventory-related risks.</a:t>
            </a:r>
            <a:br>
              <a:rPr lang="en-US" dirty="0"/>
            </a:br>
            <a:r>
              <a:rPr lang="en-US" dirty="0"/>
              <a:t>• To evaluate supplier risk.</a:t>
            </a:r>
            <a:br>
              <a:rPr lang="en-US" dirty="0"/>
            </a:br>
            <a:r>
              <a:rPr lang="en-US" dirty="0"/>
              <a:t>• To identify major risk areas.</a:t>
            </a:r>
            <a:br>
              <a:rPr lang="en-US" dirty="0"/>
            </a:br>
            <a:r>
              <a:rPr lang="en-US" dirty="0"/>
              <a:t>• To analyze supplier-country risk distribution.</a:t>
            </a:r>
            <a:br>
              <a:rPr lang="en-US" dirty="0"/>
            </a:br>
            <a:r>
              <a:rPr lang="en-US" dirty="0"/>
              <a:t>• To create a visual dashboard.</a:t>
            </a:r>
            <a:br>
              <a:rPr lang="en-US" dirty="0"/>
            </a:br>
            <a:r>
              <a:rPr lang="en-US" dirty="0"/>
              <a:t>• To generate actionable business insights.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97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83A4-7839-C275-6EC4-03D52A69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28B6-9D2F-FFFF-8ABA-B1BFE1AB8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The project focuses on four main areas:</a:t>
            </a:r>
          </a:p>
          <a:p>
            <a:r>
              <a:rPr lang="en-US" b="1" dirty="0"/>
              <a:t>Data Preparation</a:t>
            </a:r>
            <a:br>
              <a:rPr lang="en-US" dirty="0"/>
            </a:br>
            <a:r>
              <a:rPr lang="en-US" dirty="0"/>
              <a:t>• Data cleaning</a:t>
            </a:r>
            <a:br>
              <a:rPr lang="en-US" dirty="0"/>
            </a:br>
            <a:r>
              <a:rPr lang="en-US" dirty="0"/>
              <a:t>• Data transformation</a:t>
            </a:r>
            <a:br>
              <a:rPr lang="en-US" dirty="0"/>
            </a:br>
            <a:r>
              <a:rPr lang="en-US" dirty="0"/>
              <a:t>• Creation of calculated fields</a:t>
            </a:r>
          </a:p>
          <a:p>
            <a:r>
              <a:rPr lang="en-US" b="1" dirty="0"/>
              <a:t>Risk Analysis</a:t>
            </a:r>
            <a:br>
              <a:rPr lang="en-US" dirty="0"/>
            </a:br>
            <a:r>
              <a:rPr lang="en-US" dirty="0"/>
              <a:t>• Inventory Risk</a:t>
            </a:r>
            <a:br>
              <a:rPr lang="en-US" dirty="0"/>
            </a:br>
            <a:r>
              <a:rPr lang="en-US" dirty="0"/>
              <a:t>• Delivery Risk</a:t>
            </a:r>
            <a:br>
              <a:rPr lang="en-US" dirty="0"/>
            </a:br>
            <a:r>
              <a:rPr lang="en-US" dirty="0"/>
              <a:t>• Supplier Risk</a:t>
            </a:r>
          </a:p>
          <a:p>
            <a:r>
              <a:rPr lang="en-US" b="1" dirty="0"/>
              <a:t>Visualization</a:t>
            </a:r>
            <a:br>
              <a:rPr lang="en-US" dirty="0"/>
            </a:br>
            <a:r>
              <a:rPr lang="en-US" dirty="0"/>
              <a:t>• PivotTables</a:t>
            </a:r>
            <a:br>
              <a:rPr lang="en-US" dirty="0"/>
            </a:br>
            <a:r>
              <a:rPr lang="en-US" dirty="0"/>
              <a:t>• Charts</a:t>
            </a:r>
            <a:br>
              <a:rPr lang="en-US" dirty="0"/>
            </a:br>
            <a:r>
              <a:rPr lang="en-US" dirty="0"/>
              <a:t>• KPI indicators</a:t>
            </a:r>
            <a:br>
              <a:rPr lang="en-US" dirty="0"/>
            </a:br>
            <a:r>
              <a:rPr lang="en-US" dirty="0"/>
              <a:t>• Dashboard</a:t>
            </a:r>
          </a:p>
          <a:p>
            <a:r>
              <a:rPr lang="en-US" b="1" dirty="0"/>
              <a:t>Business Insights</a:t>
            </a:r>
            <a:br>
              <a:rPr lang="en-US" dirty="0"/>
            </a:br>
            <a:r>
              <a:rPr lang="en-US" dirty="0"/>
              <a:t>• Identifying major risk areas</a:t>
            </a:r>
            <a:br>
              <a:rPr lang="en-US" dirty="0"/>
            </a:br>
            <a:r>
              <a:rPr lang="en-US" dirty="0"/>
              <a:t>• Supporting data-driven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63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A6B0-003F-CE0E-903F-15C54C0A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C28D-C483-924B-2F33-A7B01E4E6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Through this project, I learned:</a:t>
            </a:r>
          </a:p>
          <a:p>
            <a:pPr marL="0" indent="0">
              <a:buNone/>
            </a:pPr>
            <a:r>
              <a:rPr lang="en-US" dirty="0"/>
              <a:t>• How to work with a large dataset.</a:t>
            </a:r>
            <a:br>
              <a:rPr lang="en-US" dirty="0"/>
            </a:br>
            <a:r>
              <a:rPr lang="en-US" dirty="0"/>
              <a:t>• Data cleaning and transformation using Power Query.</a:t>
            </a:r>
            <a:br>
              <a:rPr lang="en-US" dirty="0"/>
            </a:br>
            <a:r>
              <a:rPr lang="en-US" dirty="0"/>
              <a:t>• Creating calculated columns for analysis.</a:t>
            </a:r>
            <a:br>
              <a:rPr lang="en-US" dirty="0"/>
            </a:br>
            <a:r>
              <a:rPr lang="en-US" dirty="0"/>
              <a:t>• Using PivotTables for data analysis.</a:t>
            </a:r>
            <a:br>
              <a:rPr lang="en-US" dirty="0"/>
            </a:br>
            <a:r>
              <a:rPr lang="en-US" dirty="0"/>
              <a:t>• Creating charts and dashboards.</a:t>
            </a:r>
            <a:br>
              <a:rPr lang="en-US" dirty="0"/>
            </a:br>
            <a:r>
              <a:rPr lang="en-US" dirty="0"/>
              <a:t>• Identifying patterns and risks in business data.</a:t>
            </a:r>
            <a:br>
              <a:rPr lang="en-US" dirty="0"/>
            </a:br>
            <a:r>
              <a:rPr lang="en-US" dirty="0"/>
              <a:t>• Converting analytical results into business insights.</a:t>
            </a:r>
            <a:br>
              <a:rPr lang="en-US" dirty="0"/>
            </a:br>
            <a:r>
              <a:rPr lang="en-US" dirty="0"/>
              <a:t>• Presenting data findings in a clear and simple 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62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BD3A-ABAC-FDCC-2970-257E272E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Dataset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3176B-50E7-1A3C-1944-76BDB3DA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project uses a public supply-chain logistics dataset for analyzing supply-chain risks and operational performance.</a:t>
            </a:r>
          </a:p>
          <a:p>
            <a:pPr marL="0" indent="0">
              <a:buNone/>
            </a:pPr>
            <a:r>
              <a:rPr lang="en-US" b="1" dirty="0"/>
              <a:t>Dataset Size: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113,097 records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18 original columns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1,000 products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3,524 supplier IDs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94 supplier countries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dataset covers suppliers, inventory, delivery, costs, disruptions and risk factors.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3AF06-FCA9-DC94-66F5-6842623F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95" y="2457974"/>
            <a:ext cx="6332593" cy="268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9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543E-30C7-4225-8C7A-FCC7B909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Important Dataset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BB51-23CC-01C3-67E6-5E1AE9189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dataset contains several variables used for supply-chain risk analysis: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Product ID</a:t>
            </a:r>
            <a:r>
              <a:rPr lang="en-US" dirty="0"/>
              <a:t> – Identifies the product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Supplier ID</a:t>
            </a:r>
            <a:r>
              <a:rPr lang="en-US" dirty="0"/>
              <a:t> – Identifies the supplier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Supplier Country</a:t>
            </a:r>
            <a:r>
              <a:rPr lang="en-US" dirty="0"/>
              <a:t> – Supplier's country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Warehouse Inventory Level</a:t>
            </a:r>
            <a:r>
              <a:rPr lang="en-US" dirty="0"/>
              <a:t> – Available inventory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Historical Demand</a:t>
            </a:r>
            <a:r>
              <a:rPr lang="en-US" dirty="0"/>
              <a:t> – Previous demand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Lead Time Days</a:t>
            </a:r>
            <a:r>
              <a:rPr lang="en-US" dirty="0"/>
              <a:t> – Delivery/supply lead time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Supplier Reliability Score</a:t>
            </a:r>
            <a:r>
              <a:rPr lang="en-US" dirty="0"/>
              <a:t> – Measures supplier reliability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Delivery Time Deviation</a:t>
            </a:r>
            <a:r>
              <a:rPr lang="en-US" dirty="0"/>
              <a:t> – Difference in delivery time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Delay Probability</a:t>
            </a:r>
            <a:r>
              <a:rPr lang="en-US" dirty="0"/>
              <a:t> – Probability of delivery delay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Shipping Costs</a:t>
            </a:r>
            <a:r>
              <a:rPr lang="en-US" dirty="0"/>
              <a:t> – Transportation-related cost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AB124-4BE9-4ED3-4BC1-9767FF875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245" y="2189285"/>
            <a:ext cx="3916625" cy="15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37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093A-937E-A632-6E88-48646009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        </a:t>
            </a:r>
            <a:r>
              <a:rPr lang="en-US" b="1" dirty="0">
                <a:solidFill>
                  <a:srgbClr val="002060"/>
                </a:solidFill>
              </a:rPr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00767-DB3B-D91F-E76D-E9358287B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5659" y="2087592"/>
            <a:ext cx="11569460" cy="458925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b="1" dirty="0"/>
              <a:t>RAW DATA</a:t>
            </a:r>
            <a:r>
              <a:rPr lang="en-US" dirty="0"/>
              <a:t>  </a:t>
            </a:r>
          </a:p>
          <a:p>
            <a:pPr marL="0" indent="0" algn="ctr">
              <a:buNone/>
            </a:pPr>
            <a:r>
              <a:rPr lang="en-US" dirty="0"/>
              <a:t>          ↓  </a:t>
            </a:r>
          </a:p>
          <a:p>
            <a:pPr marL="0" indent="0" algn="ctr">
              <a:buNone/>
            </a:pPr>
            <a:r>
              <a:rPr lang="en-US" dirty="0"/>
              <a:t>      </a:t>
            </a:r>
            <a:r>
              <a:rPr lang="en-US" b="1" dirty="0"/>
              <a:t>DATA CLEANING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           ↓  </a:t>
            </a:r>
          </a:p>
          <a:p>
            <a:pPr marL="0" indent="0" algn="ctr">
              <a:buNone/>
            </a:pPr>
            <a:r>
              <a:rPr lang="en-US" dirty="0"/>
              <a:t>                 </a:t>
            </a:r>
            <a:r>
              <a:rPr lang="en-US" b="1" dirty="0"/>
              <a:t>DATA TRANSFORMATION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             ↓         </a:t>
            </a:r>
          </a:p>
          <a:p>
            <a:pPr marL="0" indent="0" algn="ctr">
              <a:buNone/>
            </a:pPr>
            <a:r>
              <a:rPr lang="en-US" b="1" dirty="0"/>
              <a:t>  RISK CALCULATION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             ↓  </a:t>
            </a:r>
          </a:p>
          <a:p>
            <a:pPr marL="0" indent="0" algn="ctr">
              <a:buNone/>
            </a:pPr>
            <a:r>
              <a:rPr lang="en-US" dirty="0"/>
              <a:t>            </a:t>
            </a:r>
            <a:r>
              <a:rPr lang="en-US" b="1" dirty="0"/>
              <a:t>PIVOTTABLE ANALYSIS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                ↓  </a:t>
            </a:r>
          </a:p>
          <a:p>
            <a:pPr marL="0" indent="0" algn="ctr">
              <a:buNone/>
            </a:pPr>
            <a:r>
              <a:rPr lang="en-US" dirty="0"/>
              <a:t>            </a:t>
            </a:r>
            <a:r>
              <a:rPr lang="en-US" b="1" dirty="0"/>
              <a:t>DASHBOARD CREATION</a:t>
            </a:r>
          </a:p>
          <a:p>
            <a:pPr marL="0" indent="0" algn="ctr">
              <a:buNone/>
            </a:pPr>
            <a:r>
              <a:rPr lang="en-US" dirty="0"/>
              <a:t>                 ↓                          </a:t>
            </a:r>
            <a:r>
              <a:rPr lang="en-US" b="1" dirty="0"/>
              <a:t>      </a:t>
            </a:r>
          </a:p>
          <a:p>
            <a:pPr marL="0" indent="0" algn="ctr">
              <a:buNone/>
            </a:pPr>
            <a:r>
              <a:rPr lang="en-US" b="1" dirty="0"/>
              <a:t>                                   INSIGHTS &amp; 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53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7048-2D1C-1462-880F-961DC5EF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Data Cleaning Using Power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B64DF-A562-70F5-B14A-183A77683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Power Query was used to prepare the dataset for analysis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main activities included:</a:t>
            </a:r>
          </a:p>
          <a:p>
            <a:pPr marL="0" indent="0">
              <a:buNone/>
            </a:pPr>
            <a:r>
              <a:rPr lang="en-US" dirty="0"/>
              <a:t>• Loading the dataset into Power Query</a:t>
            </a:r>
            <a:br>
              <a:rPr lang="en-US" dirty="0"/>
            </a:br>
            <a:r>
              <a:rPr lang="en-US" dirty="0"/>
              <a:t>• Checking column quality and data types</a:t>
            </a:r>
            <a:br>
              <a:rPr lang="en-US" dirty="0"/>
            </a:br>
            <a:r>
              <a:rPr lang="en-US" dirty="0"/>
              <a:t>• Reviewing data errors</a:t>
            </a:r>
            <a:br>
              <a:rPr lang="en-US" dirty="0"/>
            </a:br>
            <a:r>
              <a:rPr lang="en-US" dirty="0"/>
              <a:t>• Creating calculated columns</a:t>
            </a:r>
            <a:br>
              <a:rPr lang="en-US" dirty="0"/>
            </a:br>
            <a:r>
              <a:rPr lang="en-US" dirty="0"/>
              <a:t>• Removing incorrect transformation steps</a:t>
            </a:r>
            <a:br>
              <a:rPr lang="en-US" dirty="0"/>
            </a:br>
            <a:r>
              <a:rPr lang="en-US" dirty="0"/>
              <a:t>• Preparing the cleaned dataset for analysis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A2057-3DD1-3724-2227-0709B904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885" y="2443566"/>
            <a:ext cx="4994030" cy="207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29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89BC-0A98-6216-5096-5828B48B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9856F-6B96-C249-C46A-033BF2975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Power Query was used to create additional fields required for risk analysis.</a:t>
            </a:r>
          </a:p>
          <a:p>
            <a:pPr marL="0" indent="0">
              <a:buNone/>
            </a:pPr>
            <a:r>
              <a:rPr lang="en-US" b="1" dirty="0"/>
              <a:t>Calculated fields created: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Delay Probability %</a:t>
            </a:r>
            <a:r>
              <a:rPr lang="en-US" dirty="0"/>
              <a:t> – Converts delay probability </a:t>
            </a:r>
          </a:p>
          <a:p>
            <a:pPr marL="0" indent="0">
              <a:buNone/>
            </a:pPr>
            <a:r>
              <a:rPr lang="en-US" dirty="0"/>
              <a:t>into percentage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Delivery Status</a:t>
            </a:r>
            <a:r>
              <a:rPr lang="en-US" dirty="0"/>
              <a:t> – Classifies records as Delayed</a:t>
            </a:r>
          </a:p>
          <a:p>
            <a:pPr marL="0" indent="0">
              <a:buNone/>
            </a:pPr>
            <a:r>
              <a:rPr lang="en-US" dirty="0"/>
              <a:t> or On Time / Early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Inventory Coverage Ratio</a:t>
            </a:r>
            <a:r>
              <a:rPr lang="en-US" dirty="0"/>
              <a:t> – Compares inventory</a:t>
            </a:r>
          </a:p>
          <a:p>
            <a:pPr marL="0" indent="0">
              <a:buNone/>
            </a:pPr>
            <a:r>
              <a:rPr lang="en-US" dirty="0"/>
              <a:t> level with historical demand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Inventory Risk</a:t>
            </a:r>
            <a:r>
              <a:rPr lang="en-US" dirty="0"/>
              <a:t> – Classifies inventory as High, Medium or Low Risk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Supplier Risk</a:t>
            </a:r>
            <a:r>
              <a:rPr lang="en-US" dirty="0"/>
              <a:t> – Classifies suppliers based on reliability score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Delivery Risk</a:t>
            </a:r>
            <a:r>
              <a:rPr lang="en-US" dirty="0"/>
              <a:t> – Classifies delivery performance based on time deviation.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BBDF2-BAC1-3A76-75AF-6071A3E5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997" y="2279164"/>
            <a:ext cx="4457691" cy="26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2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BC8D-F797-50F2-C98E-C3C3C393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Risk Metrics &amp;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3FDB-2377-BA1D-C5DA-0440ACE0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Risk categories were created using project-defined thresholds to identify potential supply-chain problems.</a:t>
            </a:r>
          </a:p>
          <a:p>
            <a:r>
              <a:rPr lang="en-US" b="1" dirty="0"/>
              <a:t>Inventory Risk</a:t>
            </a:r>
            <a:endParaRPr lang="en-US" dirty="0"/>
          </a:p>
          <a:p>
            <a:pPr lvl="0"/>
            <a:r>
              <a:rPr lang="en-US" dirty="0"/>
              <a:t>Below 0.5 → High Risk </a:t>
            </a:r>
          </a:p>
          <a:p>
            <a:pPr lvl="0"/>
            <a:r>
              <a:rPr lang="en-US" dirty="0"/>
              <a:t>0.5 to below 1 → Medium Risk </a:t>
            </a:r>
          </a:p>
          <a:p>
            <a:pPr lvl="0"/>
            <a:r>
              <a:rPr lang="en-US" dirty="0"/>
              <a:t>1 or above → Low Risk </a:t>
            </a:r>
          </a:p>
          <a:p>
            <a:r>
              <a:rPr lang="en-US" b="1" dirty="0"/>
              <a:t>Supplier Risk</a:t>
            </a:r>
            <a:endParaRPr lang="en-US" dirty="0"/>
          </a:p>
          <a:p>
            <a:pPr lvl="0"/>
            <a:r>
              <a:rPr lang="en-US" dirty="0"/>
              <a:t>Reliability below 0.4 → High Risk </a:t>
            </a:r>
          </a:p>
          <a:p>
            <a:pPr lvl="0"/>
            <a:r>
              <a:rPr lang="en-US" dirty="0"/>
              <a:t>0.4 to below 0.7 → Medium Risk </a:t>
            </a:r>
          </a:p>
          <a:p>
            <a:pPr lvl="0"/>
            <a:r>
              <a:rPr lang="en-US" dirty="0"/>
              <a:t>0.7 or above → Low Risk </a:t>
            </a:r>
          </a:p>
          <a:p>
            <a:r>
              <a:rPr lang="en-US" b="1" dirty="0"/>
              <a:t>Delivery Risk</a:t>
            </a:r>
            <a:endParaRPr lang="en-US" dirty="0"/>
          </a:p>
          <a:p>
            <a:pPr lvl="0"/>
            <a:r>
              <a:rPr lang="en-US" dirty="0"/>
              <a:t>Deviation above 5 days → High Risk </a:t>
            </a:r>
          </a:p>
          <a:p>
            <a:pPr lvl="0"/>
            <a:r>
              <a:rPr lang="en-US" dirty="0"/>
              <a:t>Deviation above 0 to 5 days → Medium Risk </a:t>
            </a:r>
          </a:p>
          <a:p>
            <a:pPr lvl="0"/>
            <a:r>
              <a:rPr lang="en-US" dirty="0"/>
              <a:t>0 or below → Low Risk</a:t>
            </a:r>
          </a:p>
          <a:p>
            <a:pPr lvl="0"/>
            <a:endParaRPr lang="en-US" dirty="0"/>
          </a:p>
          <a:p>
            <a:pPr lvl="0"/>
            <a:r>
              <a:rPr lang="en-US" sz="3600" dirty="0"/>
              <a:t>Note: These thresholds were defined for this project to support comparative risk analysis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36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8D64-1617-C6EE-D48F-F4819CCE1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Supplier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593EE-C955-A34D-0424-784D90AA7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Supplier reliability is an important factor in supply-chain risk.</a:t>
            </a:r>
          </a:p>
          <a:p>
            <a:r>
              <a:rPr lang="en-US" dirty="0"/>
              <a:t> Supplier reliability scores were analyzed to </a:t>
            </a:r>
          </a:p>
          <a:p>
            <a:pPr marL="0" indent="0">
              <a:buNone/>
            </a:pPr>
            <a:r>
              <a:rPr lang="en-US" dirty="0"/>
              <a:t>classify suppliers into High, Medium and Low Risk.</a:t>
            </a:r>
          </a:p>
          <a:p>
            <a:r>
              <a:rPr lang="en-US" dirty="0"/>
              <a:t> The analysis helps identify suppliers that may </a:t>
            </a:r>
          </a:p>
          <a:p>
            <a:pPr marL="0" indent="0">
              <a:buNone/>
            </a:pPr>
            <a:r>
              <a:rPr lang="en-US" dirty="0"/>
              <a:t>require closer monitoring.</a:t>
            </a:r>
          </a:p>
          <a:p>
            <a:r>
              <a:rPr lang="en-US" dirty="0"/>
              <a:t> Supplier risk was also compared with delivery risk </a:t>
            </a:r>
          </a:p>
          <a:p>
            <a:pPr marL="0" indent="0">
              <a:buNone/>
            </a:pPr>
            <a:r>
              <a:rPr lang="en-US" dirty="0"/>
              <a:t>to identify potential risk patterns.</a:t>
            </a:r>
          </a:p>
          <a:p>
            <a:r>
              <a:rPr lang="en-US" dirty="0"/>
              <a:t> Supplier country information was used to understand</a:t>
            </a:r>
          </a:p>
          <a:p>
            <a:pPr marL="0" indent="0">
              <a:buNone/>
            </a:pPr>
            <a:r>
              <a:rPr lang="en-US" dirty="0"/>
              <a:t> the distribution of supplier-related risk.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E5DB0-FADF-AC23-E3FF-FDA606ECE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029" y="2283946"/>
            <a:ext cx="3426502" cy="271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2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857A-106B-7184-9916-91118A3B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Inventory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390F6-72AB-B78D-322A-988513F62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Inventory levels were analyzed to identify potential stockout risks.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Inventory Coverage Ratio was calculated by comparing </a:t>
            </a:r>
          </a:p>
          <a:p>
            <a:pPr marL="0" indent="0">
              <a:buNone/>
            </a:pPr>
            <a:r>
              <a:rPr lang="en-US" dirty="0"/>
              <a:t>warehouse inventory with historical demand.</a:t>
            </a:r>
            <a:br>
              <a:rPr lang="en-US" dirty="0"/>
            </a:br>
            <a:r>
              <a:rPr lang="en-US" dirty="0"/>
              <a:t>• Records were classified into </a:t>
            </a:r>
            <a:r>
              <a:rPr lang="en-US" b="1" dirty="0"/>
              <a:t>High, Medium</a:t>
            </a:r>
          </a:p>
          <a:p>
            <a:pPr marL="0" indent="0">
              <a:buNone/>
            </a:pPr>
            <a:r>
              <a:rPr lang="en-US" b="1" dirty="0"/>
              <a:t> and Low Inventory Risk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High inventory risk indicates that available</a:t>
            </a:r>
          </a:p>
          <a:p>
            <a:pPr marL="0" indent="0">
              <a:buNone/>
            </a:pPr>
            <a:r>
              <a:rPr lang="en-US" dirty="0"/>
              <a:t> inventory is low compared with demand.</a:t>
            </a:r>
            <a:br>
              <a:rPr lang="en-US" dirty="0"/>
            </a:br>
            <a:r>
              <a:rPr lang="en-US" dirty="0"/>
              <a:t>• The analysis helps identify areas where</a:t>
            </a:r>
          </a:p>
          <a:p>
            <a:pPr marL="0" indent="0">
              <a:buNone/>
            </a:pPr>
            <a:r>
              <a:rPr lang="en-US" dirty="0"/>
              <a:t> inventory planning may need improvement.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Finding:</a:t>
            </a:r>
            <a:br>
              <a:rPr lang="en-US" dirty="0"/>
            </a:br>
            <a:r>
              <a:rPr lang="en-US" sz="3000" dirty="0"/>
              <a:t>     </a:t>
            </a:r>
            <a:r>
              <a:rPr lang="en-US" sz="3000" b="1" dirty="0"/>
              <a:t>High Inventory Risk is the largest category in the analyzed dataset.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DE936-0EA3-DDA6-36EF-9EB19C4E1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581" y="2600835"/>
            <a:ext cx="4795380" cy="280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82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2098-81BC-B62B-AF8A-1C2D5FC4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Delivery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A2E4-F6F7-834B-32C6-290CE434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Delivery performance was analyzed using </a:t>
            </a:r>
            <a:r>
              <a:rPr lang="en-US" b="1" dirty="0"/>
              <a:t>delivery time deviation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Records were classified into </a:t>
            </a:r>
            <a:r>
              <a:rPr lang="en-US" b="1" dirty="0"/>
              <a:t>High, Medium</a:t>
            </a:r>
          </a:p>
          <a:p>
            <a:pPr marL="0" indent="0">
              <a:buNone/>
            </a:pPr>
            <a:r>
              <a:rPr lang="en-US" b="1" dirty="0"/>
              <a:t> and Low Delivery Risk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Delayed orders</a:t>
            </a:r>
            <a:r>
              <a:rPr lang="en-US" dirty="0"/>
              <a:t> were identified using</a:t>
            </a:r>
          </a:p>
          <a:p>
            <a:pPr marL="0" indent="0">
              <a:buNone/>
            </a:pPr>
            <a:r>
              <a:rPr lang="en-US" dirty="0"/>
              <a:t> delivery status.</a:t>
            </a:r>
            <a:br>
              <a:rPr lang="en-US" dirty="0"/>
            </a:br>
            <a:r>
              <a:rPr lang="en-US" dirty="0"/>
              <a:t>• The analysis helps identify areas where</a:t>
            </a:r>
          </a:p>
          <a:p>
            <a:pPr marL="0" indent="0">
              <a:buNone/>
            </a:pPr>
            <a:r>
              <a:rPr lang="en-US" dirty="0"/>
              <a:t>delivery performance may need improvement.</a:t>
            </a:r>
            <a:br>
              <a:rPr lang="en-US" dirty="0"/>
            </a:br>
            <a:r>
              <a:rPr lang="en-US" dirty="0"/>
              <a:t>• Delivery risk was compared with </a:t>
            </a:r>
          </a:p>
          <a:p>
            <a:pPr marL="0" indent="0">
              <a:buNone/>
            </a:pPr>
            <a:r>
              <a:rPr lang="en-US" dirty="0"/>
              <a:t> risk to identify possible risk patterns.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Finding:</a:t>
            </a:r>
            <a:br>
              <a:rPr lang="en-US" dirty="0"/>
            </a:br>
            <a:r>
              <a:rPr lang="en-US" sz="2600" b="1" dirty="0"/>
              <a:t>Delayed records are substantially higher than On Time / Early records in the analyzed dataset</a:t>
            </a:r>
            <a:r>
              <a:rPr lang="en-US" b="1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2229-61EA-5DA9-8E10-B6D32F6DB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17" y="2241142"/>
            <a:ext cx="4331343" cy="30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9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CF6A-1B8A-3F3E-5E49-BEC6B18C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Supply Chain Risk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744E6-EBE9-159F-1307-75C20818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dashboard provides a summarized view of major supply-chain risk indicators.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Total records analyzed</a:t>
            </a:r>
            <a:br>
              <a:rPr lang="en-US" dirty="0"/>
            </a:br>
            <a:r>
              <a:rPr lang="en-US" dirty="0"/>
              <a:t>• High delivery risk</a:t>
            </a:r>
            <a:br>
              <a:rPr lang="en-US" dirty="0"/>
            </a:br>
            <a:r>
              <a:rPr lang="en-US" dirty="0"/>
              <a:t>• High inventory risk</a:t>
            </a:r>
            <a:br>
              <a:rPr lang="en-US" dirty="0"/>
            </a:br>
            <a:r>
              <a:rPr lang="en-US" dirty="0"/>
              <a:t>• Delayed orders</a:t>
            </a:r>
            <a:br>
              <a:rPr lang="en-US" dirty="0"/>
            </a:br>
            <a:r>
              <a:rPr lang="en-US" dirty="0"/>
              <a:t>• Supplier-country risk distribution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Purpose:</a:t>
            </a:r>
            <a:r>
              <a:rPr lang="en-US" dirty="0"/>
              <a:t> To provide a quick view of</a:t>
            </a:r>
          </a:p>
          <a:p>
            <a:pPr marL="0" indent="0">
              <a:buNone/>
            </a:pPr>
            <a:r>
              <a:rPr lang="en-US" dirty="0"/>
              <a:t> major risk areas and support data-driven decision 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AD1F3-5A20-615A-3199-ACD875420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760" y="2224012"/>
            <a:ext cx="5725159" cy="336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11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CCFE-4E90-A511-732D-17EE02D0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320" y="18018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Dashboard KPI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8F3D0-CAE1-1C98-D34F-83EDF25B9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348105"/>
            <a:ext cx="10515600" cy="435133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pPr marL="0" indent="0">
              <a:buNone/>
            </a:pPr>
            <a:r>
              <a:rPr lang="en-US" sz="2400" dirty="0"/>
              <a:t>.</a:t>
            </a:r>
            <a:endParaRPr lang="en-US" sz="2400" b="1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606236-F04F-D0F9-6619-D041FA03C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912615"/>
              </p:ext>
            </p:extLst>
          </p:nvPr>
        </p:nvGraphicFramePr>
        <p:xfrm>
          <a:off x="2844800" y="1426924"/>
          <a:ext cx="6096000" cy="3870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84654">
                  <a:extLst>
                    <a:ext uri="{9D8B030D-6E8A-4147-A177-3AD203B41FA5}">
                      <a16:colId xmlns:a16="http://schemas.microsoft.com/office/drawing/2014/main" val="3208999060"/>
                    </a:ext>
                  </a:extLst>
                </a:gridCol>
                <a:gridCol w="3111346">
                  <a:extLst>
                    <a:ext uri="{9D8B030D-6E8A-4147-A177-3AD203B41FA5}">
                      <a16:colId xmlns:a16="http://schemas.microsoft.com/office/drawing/2014/main" val="3099988442"/>
                    </a:ext>
                  </a:extLst>
                </a:gridCol>
              </a:tblGrid>
              <a:tr h="708103">
                <a:tc>
                  <a:txBody>
                    <a:bodyPr/>
                    <a:lstStyle/>
                    <a:p>
                      <a:r>
                        <a:rPr lang="en-US" b="1" dirty="0"/>
                        <a:t>. </a:t>
                      </a:r>
                      <a:r>
                        <a:rPr lang="en-US" sz="2000" b="1" dirty="0"/>
                        <a:t>Total Records</a:t>
                      </a:r>
                      <a:br>
                        <a:rPr lang="en-US" dirty="0"/>
                      </a:br>
                      <a:r>
                        <a:rPr lang="en-US" dirty="0"/>
                        <a:t> </a:t>
                      </a:r>
                      <a:r>
                        <a:rPr lang="en-US" sz="2400" b="1" dirty="0"/>
                        <a:t>113,097</a:t>
                      </a:r>
                      <a:br>
                        <a:rPr lang="en-US" dirty="0"/>
                      </a:br>
                      <a:r>
                        <a:rPr lang="en-US" sz="1800" dirty="0"/>
                        <a:t>Total supply-chain records analyzed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. High Delivery Risk</a:t>
                      </a:r>
                      <a:br>
                        <a:rPr lang="en-US" dirty="0"/>
                      </a:br>
                      <a:r>
                        <a:rPr lang="en-US" dirty="0"/>
                        <a:t> </a:t>
                      </a:r>
                      <a:r>
                        <a:rPr lang="en-US" sz="2400" b="1" dirty="0"/>
                        <a:t>63,566</a:t>
                      </a:r>
                      <a:br>
                        <a:rPr lang="en-US" dirty="0"/>
                      </a:br>
                      <a:r>
                        <a:rPr lang="en-US" sz="1800" dirty="0"/>
                        <a:t>Records classified as high delivery risk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21566"/>
                  </a:ext>
                </a:extLst>
              </a:tr>
              <a:tr h="1055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. High Inventory Risk</a:t>
                      </a:r>
                      <a:br>
                        <a:rPr lang="en-US" dirty="0"/>
                      </a:br>
                      <a:r>
                        <a:rPr lang="en-US" dirty="0"/>
                        <a:t> </a:t>
                      </a:r>
                      <a:r>
                        <a:rPr lang="en-US" sz="2400" b="1" dirty="0"/>
                        <a:t>105,129</a:t>
                      </a:r>
                      <a:br>
                        <a:rPr lang="en-US" dirty="0"/>
                      </a:br>
                      <a:r>
                        <a:rPr lang="en-US" sz="1800" dirty="0"/>
                        <a:t>Records classified as high inventory risk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endParaRPr lang="en-US" b="1" dirty="0"/>
                    </a:p>
                    <a:p>
                      <a:pPr lvl="1"/>
                      <a:r>
                        <a:rPr lang="en-US" b="1" dirty="0"/>
                        <a:t>. Delayed Orders</a:t>
                      </a:r>
                      <a:br>
                        <a:rPr lang="en-US" dirty="0"/>
                      </a:br>
                      <a:r>
                        <a:rPr lang="en-US" dirty="0"/>
                        <a:t> </a:t>
                      </a:r>
                      <a:r>
                        <a:rPr lang="en-US" sz="2400" b="1" dirty="0"/>
                        <a:t>92,795</a:t>
                      </a:r>
                      <a:br>
                        <a:rPr lang="en-US" dirty="0"/>
                      </a:br>
                      <a:r>
                        <a:rPr lang="en-US" sz="2200" dirty="0"/>
                        <a:t>Records identified as delayed</a:t>
                      </a:r>
                      <a:r>
                        <a:rPr lang="en-US" dirty="0"/>
                        <a:t>.</a:t>
                      </a:r>
                    </a:p>
                    <a:p>
                      <a:pPr marL="0" indent="0">
                        <a:buNone/>
                      </a:pPr>
                      <a:endParaRPr lang="en-US" sz="2400" b="1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9826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735F4A8-370B-E230-CE0E-56F5BC13B8B8}"/>
              </a:ext>
            </a:extLst>
          </p:cNvPr>
          <p:cNvSpPr txBox="1"/>
          <p:nvPr/>
        </p:nvSpPr>
        <p:spPr>
          <a:xfrm>
            <a:off x="3281680" y="5778262"/>
            <a:ext cx="7051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overview of the major risk areas identified in the </a:t>
            </a:r>
          </a:p>
          <a:p>
            <a:r>
              <a:rPr lang="en-US" sz="2000" b="1" dirty="0"/>
              <a:t>dataset. These KPIs provide a quick </a:t>
            </a:r>
          </a:p>
        </p:txBody>
      </p:sp>
    </p:spTree>
    <p:extLst>
      <p:ext uri="{BB962C8B-B14F-4D97-AF65-F5344CB8AC3E}">
        <p14:creationId xmlns:p14="http://schemas.microsoft.com/office/powerpoint/2010/main" val="9273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FCF1-D38E-9508-5758-451747AA0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258" y="206058"/>
            <a:ext cx="11098212" cy="88392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Working Module – Supplier Risk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CAC6B-5AD3-5A09-9AA8-D4379DDBC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7364" y="1346834"/>
            <a:ext cx="4020185" cy="4605656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Supplier reliability score was used to classify supplier risk.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Suppliers were categorized into </a:t>
            </a:r>
            <a:r>
              <a:rPr lang="en-US" sz="2000" b="1" dirty="0"/>
              <a:t>High Risk, Medium Risk, and Low Risk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Supplier country was analyzed to understand the distribution of supplier-related risk.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Delivery risk was compared with supplier risk to identify possible risk patterns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/>
              <a:t>The analysis helps identify suppliers that may require closer monitoring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E9467F48-6A46-0E8E-A3CA-EBC586D4DE7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5406" r="15406"/>
          <a:stretch/>
        </p:blipFill>
        <p:spPr>
          <a:xfrm>
            <a:off x="5588712" y="1089978"/>
            <a:ext cx="6007340" cy="474345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409BA5-50C6-B097-0FB4-55F74050B864}"/>
              </a:ext>
            </a:extLst>
          </p:cNvPr>
          <p:cNvSpPr/>
          <p:nvPr/>
        </p:nvSpPr>
        <p:spPr>
          <a:xfrm>
            <a:off x="961708" y="6071552"/>
            <a:ext cx="10759440" cy="6807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Finding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Supplier risk varies across suppliers and countries, highlighting areas that require monitoring</a:t>
            </a:r>
            <a:r>
              <a:rPr lang="en-US" dirty="0"/>
              <a:t>.</a:t>
            </a:r>
          </a:p>
        </p:txBody>
      </p:sp>
      <p:pic>
        <p:nvPicPr>
          <p:cNvPr id="26" name="Graphic 25" descr="Lightbulb with solid fill">
            <a:extLst>
              <a:ext uri="{FF2B5EF4-FFF2-40B4-BE49-F238E27FC236}">
                <a16:creationId xmlns:a16="http://schemas.microsoft.com/office/drawing/2014/main" id="{4E108C75-7CAC-790C-089F-39D1423E1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677" y="6125737"/>
            <a:ext cx="572350" cy="57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72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38EB-B529-F958-8F75-52502B3D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94" y="71486"/>
            <a:ext cx="11057572" cy="78422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Working Module - Inventory &amp; Delivery Risk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AE8BBB-EB09-92A7-FBA6-FE9F5E5C8BE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872" r="18872"/>
          <a:stretch/>
        </p:blipFill>
        <p:spPr>
          <a:xfrm>
            <a:off x="6977059" y="891045"/>
            <a:ext cx="3538655" cy="25379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0C680-2365-2E83-E2BE-23A01398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519" y="891045"/>
            <a:ext cx="6314763" cy="4944979"/>
          </a:xfrm>
        </p:spPr>
        <p:txBody>
          <a:bodyPr>
            <a:normAutofit/>
          </a:bodyPr>
          <a:lstStyle/>
          <a:p>
            <a:r>
              <a:rPr lang="en-US" b="1" dirty="0"/>
              <a:t>Inventory Risk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Inventory levels were analyzed to identify potential stockout risks.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Inventory Coverage Ratio was calculated using warehouse inventory and historical demand.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Records were classified into </a:t>
            </a:r>
            <a:r>
              <a:rPr lang="en-US" b="1" dirty="0"/>
              <a:t>High, Medium and Low Inventory Risk</a:t>
            </a:r>
            <a:r>
              <a:rPr lang="en-US" dirty="0"/>
              <a:t>. </a:t>
            </a:r>
          </a:p>
          <a:p>
            <a:r>
              <a:rPr lang="en-US" b="1" dirty="0"/>
              <a:t>Delivery Risk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Delivery Time Deviation was used to assess delivery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Records were classified into </a:t>
            </a:r>
            <a:r>
              <a:rPr lang="en-US" b="1" dirty="0"/>
              <a:t>High, Medium and Low Delivery Risk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Delivery Status was categorized as </a:t>
            </a:r>
            <a:r>
              <a:rPr lang="en-US" b="1" dirty="0"/>
              <a:t>Delayed</a:t>
            </a:r>
            <a:r>
              <a:rPr lang="en-US" dirty="0"/>
              <a:t> or </a:t>
            </a:r>
            <a:r>
              <a:rPr lang="en-US" b="1" dirty="0"/>
              <a:t>On Time / Early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45B107-DD53-17C9-852C-D738A6832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059" y="4016351"/>
            <a:ext cx="4088337" cy="19110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81F141-EAC3-C4E2-03D1-B738615FE51B}"/>
              </a:ext>
            </a:extLst>
          </p:cNvPr>
          <p:cNvSpPr txBox="1"/>
          <p:nvPr/>
        </p:nvSpPr>
        <p:spPr>
          <a:xfrm>
            <a:off x="394447" y="6079417"/>
            <a:ext cx="11295529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Key Finding</a:t>
            </a:r>
            <a:r>
              <a:rPr lang="en-US" sz="1600" b="1" dirty="0"/>
              <a:t>:</a:t>
            </a:r>
            <a:r>
              <a:rPr lang="en-US" sz="1600" dirty="0"/>
              <a:t> Inventory risk is the largest risk category, while delayed records are substantially higher than on-time/early records</a:t>
            </a:r>
          </a:p>
          <a:p>
            <a:endParaRPr lang="en-US" dirty="0"/>
          </a:p>
        </p:txBody>
      </p:sp>
      <p:pic>
        <p:nvPicPr>
          <p:cNvPr id="11" name="Graphic 10" descr="Lightbulb with solid fill">
            <a:extLst>
              <a:ext uri="{FF2B5EF4-FFF2-40B4-BE49-F238E27FC236}">
                <a16:creationId xmlns:a16="http://schemas.microsoft.com/office/drawing/2014/main" id="{6C033941-2775-1A7D-00CF-5469BFF1D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079417"/>
            <a:ext cx="471519" cy="47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1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DAD0-BFF5-E265-9810-FFF47B17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56758"/>
            <a:ext cx="10439400" cy="1414121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Key Findings &amp;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DA64-3A84-E6DA-3F2C-5CFB7B7E4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399" y="1748118"/>
            <a:ext cx="5105401" cy="405204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113,097</a:t>
            </a:r>
            <a:r>
              <a:rPr lang="en-US" dirty="0"/>
              <a:t> supply-chain records were analyzed. </a:t>
            </a:r>
          </a:p>
          <a:p>
            <a:pPr lvl="0"/>
            <a:r>
              <a:rPr lang="en-US" b="1" dirty="0"/>
              <a:t>105,129 records</a:t>
            </a:r>
            <a:r>
              <a:rPr lang="en-US" dirty="0"/>
              <a:t> were classified as High Inventory Risk. </a:t>
            </a:r>
          </a:p>
          <a:p>
            <a:pPr lvl="0"/>
            <a:r>
              <a:rPr lang="en-US" b="1" dirty="0"/>
              <a:t>92,795 records</a:t>
            </a:r>
            <a:r>
              <a:rPr lang="en-US" dirty="0"/>
              <a:t> were identified as Delayed. </a:t>
            </a:r>
          </a:p>
          <a:p>
            <a:pPr lvl="0"/>
            <a:r>
              <a:rPr lang="en-US" b="1" dirty="0"/>
              <a:t>63,566 records</a:t>
            </a:r>
            <a:r>
              <a:rPr lang="en-US" dirty="0"/>
              <a:t> were classified as High Delivery Risk. </a:t>
            </a:r>
          </a:p>
          <a:p>
            <a:pPr lvl="0"/>
            <a:r>
              <a:rPr lang="en-US" dirty="0"/>
              <a:t>Supplier risk was distributed across multiple supplier countries. </a:t>
            </a:r>
          </a:p>
          <a:p>
            <a:pPr lvl="0"/>
            <a:r>
              <a:rPr lang="en-US" dirty="0"/>
              <a:t>Inventory and delivery emerged as the major </a:t>
            </a:r>
          </a:p>
          <a:p>
            <a:pPr marL="0" lvl="0" indent="0">
              <a:buNone/>
            </a:pPr>
            <a:r>
              <a:rPr lang="en-US" dirty="0"/>
              <a:t>risk areas in the analyzed dataset.</a:t>
            </a:r>
          </a:p>
        </p:txBody>
      </p:sp>
      <p:pic>
        <p:nvPicPr>
          <p:cNvPr id="10" name="Content Placeholder 9" descr="Lightbulb with solid fill">
            <a:extLst>
              <a:ext uri="{FF2B5EF4-FFF2-40B4-BE49-F238E27FC236}">
                <a16:creationId xmlns:a16="http://schemas.microsoft.com/office/drawing/2014/main" id="{160ADB6D-BD9B-6B6F-72DB-A0BBF619A0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7700" y="3375025"/>
            <a:ext cx="914400" cy="914400"/>
          </a:xfr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A34DC7-F320-A584-55DE-63BC93134A0F}"/>
              </a:ext>
            </a:extLst>
          </p:cNvPr>
          <p:cNvSpPr/>
          <p:nvPr/>
        </p:nvSpPr>
        <p:spPr>
          <a:xfrm>
            <a:off x="6172200" y="1825625"/>
            <a:ext cx="5105401" cy="12223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📦 INVENTORY</a:t>
            </a:r>
            <a:br>
              <a:rPr lang="en-US" dirty="0"/>
            </a:br>
            <a:r>
              <a:rPr lang="en-US" dirty="0"/>
              <a:t>High inventory risk was the largest risk category.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F6E963-49F8-9192-630E-96E0A0EEC001}"/>
              </a:ext>
            </a:extLst>
          </p:cNvPr>
          <p:cNvSpPr/>
          <p:nvPr/>
        </p:nvSpPr>
        <p:spPr>
          <a:xfrm>
            <a:off x="6172200" y="3325906"/>
            <a:ext cx="5105401" cy="11561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🚚 DELIVERY</a:t>
            </a:r>
            <a:br>
              <a:rPr lang="en-US" dirty="0"/>
            </a:br>
            <a:r>
              <a:rPr lang="en-US" dirty="0"/>
              <a:t>Delayed records were substantially higher than On Time / Early records.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DC9B2F-7AFB-DA2A-1BB2-E8E656223972}"/>
              </a:ext>
            </a:extLst>
          </p:cNvPr>
          <p:cNvSpPr/>
          <p:nvPr/>
        </p:nvSpPr>
        <p:spPr>
          <a:xfrm>
            <a:off x="6172200" y="4759978"/>
            <a:ext cx="5006788" cy="10401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🌍 SUPPLIERS</a:t>
            </a:r>
            <a:br>
              <a:rPr lang="en-US" dirty="0"/>
            </a:br>
            <a:r>
              <a:rPr lang="en-US" dirty="0"/>
              <a:t>Supplier risk varied across different supplier countries.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A7675-2418-3907-74E5-7FE431401A68}"/>
              </a:ext>
            </a:extLst>
          </p:cNvPr>
          <p:cNvSpPr txBox="1"/>
          <p:nvPr/>
        </p:nvSpPr>
        <p:spPr>
          <a:xfrm>
            <a:off x="497011" y="6054911"/>
            <a:ext cx="11641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808080"/>
                </a:highlight>
              </a:rPr>
              <a:t>Overall Insight:</a:t>
            </a:r>
            <a:br>
              <a:rPr lang="en-US" dirty="0">
                <a:highlight>
                  <a:srgbClr val="808080"/>
                </a:highlight>
              </a:rPr>
            </a:br>
            <a:r>
              <a:rPr lang="en-US" dirty="0">
                <a:highlight>
                  <a:srgbClr val="808080"/>
                </a:highlight>
              </a:rPr>
              <a:t>The analysis highlights inventory availability and delivery performance as important areas for supply-chain risk monitoring.</a:t>
            </a:r>
          </a:p>
        </p:txBody>
      </p:sp>
      <p:pic>
        <p:nvPicPr>
          <p:cNvPr id="12" name="Graphic 11" descr="Lightbulb with solid fill">
            <a:extLst>
              <a:ext uri="{FF2B5EF4-FFF2-40B4-BE49-F238E27FC236}">
                <a16:creationId xmlns:a16="http://schemas.microsoft.com/office/drawing/2014/main" id="{D56F0C69-1D77-1EB3-D7D0-E30FA1B94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89" y="6224245"/>
            <a:ext cx="476997" cy="47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28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BAA1-55A9-0DED-D645-CDCF041F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987" y="26024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12637-544F-F668-2415-9D6F13BB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987" y="1825625"/>
            <a:ext cx="10061559" cy="365215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/>
              <a:t>Improve Inventory Planning</a:t>
            </a:r>
            <a:r>
              <a:rPr lang="en-US" dirty="0"/>
              <a:t> – Maintain sufficient stock based on historical demand.</a:t>
            </a:r>
          </a:p>
          <a:p>
            <a:pPr lvl="0"/>
            <a:r>
              <a:rPr lang="en-US" b="1" dirty="0"/>
              <a:t>Monitor High-Risk Suppliers</a:t>
            </a:r>
            <a:r>
              <a:rPr lang="en-US" dirty="0"/>
              <a:t> – Regularly review suppliers with low reliability scores.</a:t>
            </a:r>
          </a:p>
          <a:p>
            <a:pPr lvl="0"/>
            <a:r>
              <a:rPr lang="en-US" b="1" dirty="0"/>
              <a:t>Reduce Delivery Delays</a:t>
            </a:r>
            <a:r>
              <a:rPr lang="en-US" dirty="0"/>
              <a:t> – Identify causes of delivery-time deviations and improve logistics planning.</a:t>
            </a:r>
          </a:p>
          <a:p>
            <a:pPr lvl="0"/>
            <a:r>
              <a:rPr lang="en-US" b="1" dirty="0"/>
              <a:t>Strengthen Supplier Management</a:t>
            </a:r>
            <a:r>
              <a:rPr lang="en-US" dirty="0"/>
              <a:t> – Closely monitor suppliers and countries showing higher risk levels.</a:t>
            </a:r>
          </a:p>
          <a:p>
            <a:pPr lvl="0"/>
            <a:r>
              <a:rPr lang="en-US" b="1" dirty="0"/>
              <a:t>Use Data for Early Action</a:t>
            </a:r>
            <a:r>
              <a:rPr lang="en-US" dirty="0"/>
              <a:t> – Regularly track risk indicators to identify potential problems before they become major disruptions.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FA1DD-2175-5088-EF72-DFCD25D900A0}"/>
              </a:ext>
            </a:extLst>
          </p:cNvPr>
          <p:cNvSpPr txBox="1"/>
          <p:nvPr/>
        </p:nvSpPr>
        <p:spPr>
          <a:xfrm>
            <a:off x="893987" y="5796951"/>
            <a:ext cx="10860656" cy="66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highlight>
                  <a:srgbClr val="C0C0C0"/>
                </a:highlight>
              </a:rPr>
              <a:t>Recommendation:</a:t>
            </a:r>
            <a:br>
              <a:rPr lang="en-US" dirty="0">
                <a:solidFill>
                  <a:srgbClr val="002060"/>
                </a:solidFill>
                <a:highlight>
                  <a:srgbClr val="C0C0C0"/>
                </a:highlight>
              </a:rPr>
            </a:br>
            <a:r>
              <a:rPr lang="en-US" b="1" i="1" dirty="0">
                <a:solidFill>
                  <a:srgbClr val="002060"/>
                </a:solidFill>
                <a:highlight>
                  <a:srgbClr val="C0C0C0"/>
                </a:highlight>
              </a:rPr>
              <a:t>Focus on inventory planning, supplier monitoring and delivery performance to improve supply-chain resilience.</a:t>
            </a:r>
            <a:endParaRPr lang="en-US" b="1" dirty="0">
              <a:solidFill>
                <a:srgbClr val="00206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74739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8DDA-DB99-2AAB-2BF9-94C5158F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                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D121-7273-8B17-FD13-5A1746252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4073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/>
              <a:t>Working with a </a:t>
            </a:r>
            <a:r>
              <a:rPr lang="en-US" b="1" dirty="0"/>
              <a:t>large supply-chain dataset</a:t>
            </a:r>
            <a:r>
              <a:rPr lang="en-US" dirty="0"/>
              <a:t> containing more than 113,000 records.</a:t>
            </a:r>
          </a:p>
          <a:p>
            <a:pPr lvl="0"/>
            <a:r>
              <a:rPr lang="en-US" dirty="0"/>
              <a:t>Understanding different supply-chain variables and their relationship with risk.</a:t>
            </a:r>
          </a:p>
          <a:p>
            <a:pPr lvl="0"/>
            <a:r>
              <a:rPr lang="en-US" dirty="0"/>
              <a:t>Handling </a:t>
            </a:r>
            <a:r>
              <a:rPr lang="en-US" b="1" dirty="0"/>
              <a:t>data transformation and Power Query errors</a:t>
            </a:r>
            <a:r>
              <a:rPr lang="en-US" dirty="0"/>
              <a:t> during the analysis.</a:t>
            </a:r>
          </a:p>
          <a:p>
            <a:pPr lvl="0"/>
            <a:r>
              <a:rPr lang="en-US" dirty="0"/>
              <a:t>Creating meaningful risk categories from raw data.</a:t>
            </a:r>
          </a:p>
          <a:p>
            <a:pPr lvl="0"/>
            <a:r>
              <a:rPr lang="en-US" dirty="0"/>
              <a:t>Organizing multiple PivotTables and charts for dashboard development.</a:t>
            </a:r>
          </a:p>
          <a:p>
            <a:pPr lvl="0"/>
            <a:r>
              <a:rPr lang="en-US" dirty="0"/>
              <a:t>Presenting a large amount of analytical information in a simple and understandable format.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53612-7DE0-5032-5980-00E16C099B38}"/>
              </a:ext>
            </a:extLst>
          </p:cNvPr>
          <p:cNvSpPr txBox="1"/>
          <p:nvPr/>
        </p:nvSpPr>
        <p:spPr>
          <a:xfrm>
            <a:off x="838200" y="5848710"/>
            <a:ext cx="1135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highlight>
                  <a:srgbClr val="808080"/>
                </a:highlight>
              </a:rPr>
              <a:t>Challenge:</a:t>
            </a:r>
          </a:p>
          <a:p>
            <a:r>
              <a:rPr lang="en-US" b="1" dirty="0">
                <a:solidFill>
                  <a:srgbClr val="002060"/>
                </a:solidFill>
                <a:highlight>
                  <a:srgbClr val="808080"/>
                </a:highlight>
              </a:rPr>
              <a:t>Converting a large and complex dataset into clear, meaningful business insights was one of the major challenges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3068921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5424-478F-7D6F-7704-B24FC9D6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Solutions / How Challenges Were Handled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55A66-AC1A-C394-72E1-F0ADB753C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154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Large Dataset:</a:t>
            </a:r>
            <a:r>
              <a:rPr lang="en-US" dirty="0"/>
              <a:t> Used Power Query and PivotTables to handle and summarize 113,097 records efficiently.</a:t>
            </a:r>
          </a:p>
          <a:p>
            <a:pPr lvl="0"/>
            <a:r>
              <a:rPr lang="en-US" b="1" dirty="0"/>
              <a:t>Data Understanding:</a:t>
            </a:r>
            <a:r>
              <a:rPr lang="en-US" dirty="0"/>
              <a:t> Studied important supply-chain variables before performing risk analysis.</a:t>
            </a:r>
          </a:p>
          <a:p>
            <a:pPr lvl="0"/>
            <a:r>
              <a:rPr lang="en-US" b="1" dirty="0"/>
              <a:t>Data Errors:</a:t>
            </a:r>
            <a:r>
              <a:rPr lang="en-US" dirty="0"/>
              <a:t> Identified and corrected transformation errors during Power Query processing.</a:t>
            </a:r>
          </a:p>
          <a:p>
            <a:pPr lvl="0"/>
            <a:r>
              <a:rPr lang="en-US" b="1" dirty="0"/>
              <a:t>Risk Classification:</a:t>
            </a:r>
            <a:r>
              <a:rPr lang="en-US" dirty="0"/>
              <a:t> Created project-defined risk categories using calculated metrics and clear thresholds.</a:t>
            </a:r>
          </a:p>
          <a:p>
            <a:pPr lvl="0"/>
            <a:r>
              <a:rPr lang="en-US" b="1" dirty="0"/>
              <a:t>Dashboard Organization:</a:t>
            </a:r>
            <a:r>
              <a:rPr lang="en-US" dirty="0"/>
              <a:t> Used separate PivotTables and charts to present important risk indicators.</a:t>
            </a:r>
          </a:p>
          <a:p>
            <a:pPr lvl="0"/>
            <a:r>
              <a:rPr lang="en-US" b="1" dirty="0"/>
              <a:t>Simple Presentation:</a:t>
            </a:r>
            <a:r>
              <a:rPr lang="en-US" dirty="0"/>
              <a:t> Converted complex analysis into KPIs, charts, and key business findings.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DFD3D-AAC0-CDE5-D4D7-8452A5D42161}"/>
              </a:ext>
            </a:extLst>
          </p:cNvPr>
          <p:cNvSpPr txBox="1"/>
          <p:nvPr/>
        </p:nvSpPr>
        <p:spPr>
          <a:xfrm>
            <a:off x="838200" y="5865961"/>
            <a:ext cx="10772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💡 </a:t>
            </a:r>
            <a:r>
              <a:rPr lang="en-US" b="1" dirty="0">
                <a:solidFill>
                  <a:schemeClr val="accent1"/>
                </a:solidFill>
                <a:highlight>
                  <a:srgbClr val="C0C0C0"/>
                </a:highlight>
              </a:rPr>
              <a:t>Solution:</a:t>
            </a:r>
            <a:br>
              <a:rPr lang="en-US" dirty="0">
                <a:solidFill>
                  <a:schemeClr val="accent1"/>
                </a:solidFill>
                <a:highlight>
                  <a:srgbClr val="C0C0C0"/>
                </a:highlight>
              </a:rPr>
            </a:br>
            <a:r>
              <a:rPr lang="en-US" b="1" i="1" dirty="0">
                <a:solidFill>
                  <a:schemeClr val="accent1"/>
                </a:solidFill>
                <a:highlight>
                  <a:srgbClr val="C0C0C0"/>
                </a:highlight>
              </a:rPr>
              <a:t>Power Query, PivotTables, calculated risk metrics, and dashboard visualizations helped convert complex raw data into clear and useful business insights</a:t>
            </a:r>
            <a:r>
              <a:rPr lang="en-US" b="1" i="1" dirty="0">
                <a:solidFill>
                  <a:schemeClr val="accent1"/>
                </a:solidFill>
              </a:rPr>
              <a:t>.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004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4AF3-1218-B6AE-49C8-114A9436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2901"/>
            <a:ext cx="11418277" cy="1347788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93E9-61B3-4A0B-3A02-F9A109364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77" y="1825626"/>
            <a:ext cx="10413022" cy="367836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The project analyzed </a:t>
            </a:r>
            <a:r>
              <a:rPr lang="en-US" b="1" dirty="0"/>
              <a:t>113,097 supply-chain records</a:t>
            </a:r>
            <a:r>
              <a:rPr lang="en-US" dirty="0"/>
              <a:t> to identify major risk areas.</a:t>
            </a:r>
          </a:p>
          <a:p>
            <a:pPr lvl="0"/>
            <a:r>
              <a:rPr lang="en-US" dirty="0"/>
              <a:t>Power Query was used for </a:t>
            </a:r>
            <a:r>
              <a:rPr lang="en-US" b="1" dirty="0"/>
              <a:t>data cleaning and transformation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Risk metrics were created for </a:t>
            </a:r>
            <a:r>
              <a:rPr lang="en-US" b="1" dirty="0"/>
              <a:t>inventory, suppliers, and delivery performance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PivotTables and charts helped identify important patterns and risk areas.</a:t>
            </a:r>
          </a:p>
          <a:p>
            <a:pPr lvl="0"/>
            <a:r>
              <a:rPr lang="en-US" dirty="0"/>
              <a:t>The analysis showed that </a:t>
            </a:r>
            <a:r>
              <a:rPr lang="en-US" b="1" dirty="0"/>
              <a:t>inventory and delivery risks were major concerns</a:t>
            </a:r>
            <a:r>
              <a:rPr lang="en-US" dirty="0"/>
              <a:t> in the dataset.</a:t>
            </a:r>
          </a:p>
          <a:p>
            <a:pPr lvl="0"/>
            <a:r>
              <a:rPr lang="en-US" dirty="0"/>
              <a:t>The project demonstrates how data analytics can support </a:t>
            </a:r>
            <a:r>
              <a:rPr lang="en-US" b="1" dirty="0"/>
              <a:t>better supply-chain monitoring and decision-making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33191-4765-50EC-2CA2-94C069BB195B}"/>
              </a:ext>
            </a:extLst>
          </p:cNvPr>
          <p:cNvSpPr txBox="1"/>
          <p:nvPr/>
        </p:nvSpPr>
        <p:spPr>
          <a:xfrm>
            <a:off x="940777" y="5785338"/>
            <a:ext cx="13627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highlight>
                  <a:srgbClr val="808080"/>
                </a:highlight>
              </a:rPr>
              <a:t>💡 </a:t>
            </a:r>
            <a:r>
              <a:rPr lang="en-US" b="1" dirty="0">
                <a:solidFill>
                  <a:srgbClr val="002060"/>
                </a:solidFill>
                <a:highlight>
                  <a:srgbClr val="C0C0C0"/>
                </a:highlight>
              </a:rPr>
              <a:t>Conclusion:</a:t>
            </a:r>
            <a:br>
              <a:rPr lang="en-US" b="1" dirty="0">
                <a:solidFill>
                  <a:srgbClr val="002060"/>
                </a:solidFill>
                <a:highlight>
                  <a:srgbClr val="C0C0C0"/>
                </a:highlight>
              </a:rPr>
            </a:br>
            <a:r>
              <a:rPr lang="en-US" b="1" i="1" dirty="0">
                <a:solidFill>
                  <a:srgbClr val="002060"/>
                </a:solidFill>
                <a:highlight>
                  <a:srgbClr val="C0C0C0"/>
                </a:highlight>
              </a:rPr>
              <a:t>Data-driven risk analysis can help organizations identify vulnerable areas early and take appropriate actions to</a:t>
            </a:r>
          </a:p>
          <a:p>
            <a:r>
              <a:rPr lang="en-US" b="1" i="1" dirty="0">
                <a:solidFill>
                  <a:srgbClr val="002060"/>
                </a:solidFill>
                <a:highlight>
                  <a:srgbClr val="C0C0C0"/>
                </a:highlight>
              </a:rPr>
              <a:t> improve supply-chain resilience.</a:t>
            </a:r>
            <a:endParaRPr lang="en-US" b="1" dirty="0">
              <a:solidFill>
                <a:srgbClr val="00206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38682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5B81E-BEE1-E2F2-7077-2F165A9A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                    </a:t>
            </a:r>
            <a:r>
              <a:rPr lang="en-US" sz="6600" b="1" dirty="0">
                <a:solidFill>
                  <a:srgbClr val="002060"/>
                </a:solidFill>
              </a:rPr>
              <a:t>Future Scope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19F2-5855-D5C1-88D6-BCF803F1D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92" y="1825626"/>
            <a:ext cx="10430608" cy="379266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Real-Time Monitoring:</a:t>
            </a:r>
            <a:r>
              <a:rPr lang="en-US" dirty="0"/>
              <a:t> Connect live supply-chain data for continuous risk monitoring.</a:t>
            </a:r>
          </a:p>
          <a:p>
            <a:pPr lvl="0"/>
            <a:r>
              <a:rPr lang="en-US" b="1" dirty="0"/>
              <a:t>Predictive Analytics:</a:t>
            </a:r>
            <a:r>
              <a:rPr lang="en-US" dirty="0"/>
              <a:t> Use machine learning to predict possible delays and disruptions.</a:t>
            </a:r>
          </a:p>
          <a:p>
            <a:pPr lvl="0"/>
            <a:r>
              <a:rPr lang="en-US" b="1" dirty="0"/>
              <a:t>Advanced Risk Scoring:</a:t>
            </a:r>
            <a:r>
              <a:rPr lang="en-US" dirty="0"/>
              <a:t> Combine more supply-chain factors into a comprehensive risk score.</a:t>
            </a:r>
          </a:p>
          <a:p>
            <a:pPr lvl="0"/>
            <a:r>
              <a:rPr lang="en-US" b="1" dirty="0"/>
              <a:t>Automated Alerts:</a:t>
            </a:r>
            <a:r>
              <a:rPr lang="en-US" dirty="0"/>
              <a:t> Generate alerts when inventory or delivery risk reaches a critical level.</a:t>
            </a:r>
          </a:p>
          <a:p>
            <a:pPr lvl="0"/>
            <a:r>
              <a:rPr lang="en-US" b="1" dirty="0"/>
              <a:t>Advanced Dashboard:</a:t>
            </a:r>
            <a:r>
              <a:rPr lang="en-US" dirty="0"/>
              <a:t> Develop an interactive Power BI dashboard for deeper analysis.</a:t>
            </a:r>
          </a:p>
          <a:p>
            <a:pPr lvl="0"/>
            <a:r>
              <a:rPr lang="en-US" b="1" dirty="0"/>
              <a:t>Geographical Analysis:</a:t>
            </a:r>
            <a:r>
              <a:rPr lang="en-US" dirty="0"/>
              <a:t> Analyze supplier and logistics risks based on location.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F5A34-0BE8-8B50-F73A-0CE826B3D98B}"/>
              </a:ext>
            </a:extLst>
          </p:cNvPr>
          <p:cNvSpPr txBox="1"/>
          <p:nvPr/>
        </p:nvSpPr>
        <p:spPr>
          <a:xfrm>
            <a:off x="838200" y="5926016"/>
            <a:ext cx="12907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💡 </a:t>
            </a:r>
            <a:r>
              <a:rPr lang="en-US" b="1" dirty="0">
                <a:solidFill>
                  <a:srgbClr val="002060"/>
                </a:solidFill>
                <a:highlight>
                  <a:srgbClr val="C0C0C0"/>
                </a:highlight>
              </a:rPr>
              <a:t>Future Scope:</a:t>
            </a:r>
            <a:br>
              <a:rPr lang="en-US" dirty="0">
                <a:solidFill>
                  <a:srgbClr val="002060"/>
                </a:solidFill>
                <a:highlight>
                  <a:srgbClr val="C0C0C0"/>
                </a:highlight>
              </a:rPr>
            </a:br>
            <a:r>
              <a:rPr lang="en-US" b="1" i="1" dirty="0">
                <a:solidFill>
                  <a:srgbClr val="002060"/>
                </a:solidFill>
                <a:highlight>
                  <a:srgbClr val="C0C0C0"/>
                </a:highlight>
              </a:rPr>
              <a:t>The project can be extended with real-time data, predictive models, automated alerts, and advanced </a:t>
            </a:r>
          </a:p>
          <a:p>
            <a:r>
              <a:rPr lang="en-US" b="1" i="1" dirty="0">
                <a:solidFill>
                  <a:srgbClr val="002060"/>
                </a:solidFill>
                <a:highlight>
                  <a:srgbClr val="C0C0C0"/>
                </a:highlight>
              </a:rPr>
              <a:t>business intelligence dashboards</a:t>
            </a:r>
            <a:r>
              <a:rPr lang="en-US" i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60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8DE0-71FC-5DB2-70EC-52266780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</a:rPr>
              <a:t>    Daily Internship Tasks ( Day 1-5 )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A35E53-9564-F6F5-E721-4EF4708BE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945724"/>
              </p:ext>
            </p:extLst>
          </p:nvPr>
        </p:nvGraphicFramePr>
        <p:xfrm>
          <a:off x="838200" y="1825625"/>
          <a:ext cx="10609053" cy="4394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351">
                  <a:extLst>
                    <a:ext uri="{9D8B030D-6E8A-4147-A177-3AD203B41FA5}">
                      <a16:colId xmlns:a16="http://schemas.microsoft.com/office/drawing/2014/main" val="3054421794"/>
                    </a:ext>
                  </a:extLst>
                </a:gridCol>
                <a:gridCol w="3536351">
                  <a:extLst>
                    <a:ext uri="{9D8B030D-6E8A-4147-A177-3AD203B41FA5}">
                      <a16:colId xmlns:a16="http://schemas.microsoft.com/office/drawing/2014/main" val="2877418849"/>
                    </a:ext>
                  </a:extLst>
                </a:gridCol>
                <a:gridCol w="3536351">
                  <a:extLst>
                    <a:ext uri="{9D8B030D-6E8A-4147-A177-3AD203B41FA5}">
                      <a16:colId xmlns:a16="http://schemas.microsoft.com/office/drawing/2014/main" val="2319719175"/>
                    </a:ext>
                  </a:extLst>
                </a:gridCol>
              </a:tblGrid>
              <a:tr h="456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 Performed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172792"/>
                  </a:ext>
                </a:extLst>
              </a:tr>
              <a:tr h="787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Understood project requirements and supply-chain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 scope finalized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089942"/>
                  </a:ext>
                </a:extLst>
              </a:tr>
              <a:tr h="787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Explored dataset and studied important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 structure understood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994799"/>
                  </a:ext>
                </a:extLst>
              </a:tr>
              <a:tr h="787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Cleaned and transformed data using Power 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Clean dataset prepared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660172"/>
                  </a:ext>
                </a:extLst>
              </a:tr>
              <a:tr h="787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Created calculated fields and risk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metrics generated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724777"/>
                  </a:ext>
                </a:extLst>
              </a:tr>
              <a:tr h="787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Created PivotTables for supplier and inventory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Risk patterns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756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593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54EA-DA0E-D3E5-BD24-DEA4A158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 Daily Internship Tasks ( Day 5-10 )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270D76-D9F5-9FCD-5751-606797D1F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383143"/>
              </p:ext>
            </p:extLst>
          </p:nvPr>
        </p:nvGraphicFramePr>
        <p:xfrm>
          <a:off x="838200" y="1825625"/>
          <a:ext cx="10515597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238292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9961004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37354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 Performed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907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Analyzed delivery performance and delays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 delivery risks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2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Created dashboard KPIs and 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developed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41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Developed supplier, inventory and delivery 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Analytical modules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28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Day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Prepared findings, recommendations and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 insights finalized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96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Day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Reviewed final PPT and project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project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111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8E4C6A-FF01-20FC-EFAB-59E30FF62E0A}"/>
              </a:ext>
            </a:extLst>
          </p:cNvPr>
          <p:cNvSpPr txBox="1"/>
          <p:nvPr/>
        </p:nvSpPr>
        <p:spPr>
          <a:xfrm>
            <a:off x="838200" y="5891843"/>
            <a:ext cx="10770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highlight>
                  <a:srgbClr val="C0C0C0"/>
                </a:highlight>
              </a:rPr>
              <a:t>💡 </a:t>
            </a:r>
            <a:r>
              <a:rPr lang="en-US" b="1" dirty="0">
                <a:solidFill>
                  <a:srgbClr val="002060"/>
                </a:solidFill>
                <a:highlight>
                  <a:srgbClr val="C0C0C0"/>
                </a:highlight>
              </a:rPr>
              <a:t>Summary:</a:t>
            </a:r>
            <a:br>
              <a:rPr lang="en-US" dirty="0">
                <a:solidFill>
                  <a:srgbClr val="002060"/>
                </a:solidFill>
                <a:highlight>
                  <a:srgbClr val="C0C0C0"/>
                </a:highlight>
              </a:rPr>
            </a:br>
            <a:r>
              <a:rPr lang="en-US" b="1" dirty="0">
                <a:solidFill>
                  <a:srgbClr val="002060"/>
                </a:solidFill>
                <a:highlight>
                  <a:srgbClr val="C0C0C0"/>
                </a:highlight>
              </a:rPr>
              <a:t>The project progressed from data preparation to analysis, visualization, insights, and final documentation.</a:t>
            </a:r>
            <a:endParaRPr lang="en-US" dirty="0">
              <a:solidFill>
                <a:srgbClr val="00206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30568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1F5F-C42F-DCBB-124E-150C47D56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2060"/>
                </a:solidFill>
              </a:rPr>
              <a:t>          Project Outcome &amp; Learning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0E6A-6190-55E1-CF39-BE5979626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928" y="1825625"/>
            <a:ext cx="10266871" cy="373841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Gained practical experience in </a:t>
            </a:r>
            <a:r>
              <a:rPr lang="en-US" b="1" dirty="0"/>
              <a:t>Data Analytics using Excel and Power Query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Learned how to clean and transform a large dataset.</a:t>
            </a:r>
          </a:p>
          <a:p>
            <a:pPr lvl="0"/>
            <a:r>
              <a:rPr lang="en-US" dirty="0"/>
              <a:t>Learned to create </a:t>
            </a:r>
            <a:r>
              <a:rPr lang="en-US" b="1" dirty="0"/>
              <a:t>risk metrics and classifications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Developed PivotTables, KPIs, and charts for analysis.</a:t>
            </a:r>
          </a:p>
          <a:p>
            <a:pPr lvl="0"/>
            <a:r>
              <a:rPr lang="en-US" dirty="0"/>
              <a:t>Learned how to convert analytical results into </a:t>
            </a:r>
            <a:r>
              <a:rPr lang="en-US" b="1" dirty="0"/>
              <a:t>business insights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Improved understanding of </a:t>
            </a:r>
            <a:r>
              <a:rPr lang="en-US" b="1" dirty="0"/>
              <a:t>supply-chain risk and resilience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Gained experience in preparing a professional analytics project and presentation.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866AF-415D-9517-20EA-C9A53346E165}"/>
              </a:ext>
            </a:extLst>
          </p:cNvPr>
          <p:cNvSpPr txBox="1"/>
          <p:nvPr/>
        </p:nvSpPr>
        <p:spPr>
          <a:xfrm>
            <a:off x="838200" y="5684809"/>
            <a:ext cx="11592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highlight>
                  <a:srgbClr val="C0C0C0"/>
                </a:highlight>
              </a:rPr>
              <a:t>💡 Overall Learning:</a:t>
            </a:r>
            <a:br>
              <a:rPr lang="en-US" sz="2000" b="1" dirty="0">
                <a:solidFill>
                  <a:srgbClr val="002060"/>
                </a:solidFill>
                <a:highlight>
                  <a:srgbClr val="C0C0C0"/>
                </a:highlight>
              </a:rPr>
            </a:br>
            <a:r>
              <a:rPr lang="en-US" sz="2000" b="1" i="1" dirty="0">
                <a:solidFill>
                  <a:srgbClr val="002060"/>
                </a:solidFill>
                <a:highlight>
                  <a:srgbClr val="C0C0C0"/>
                </a:highlight>
              </a:rPr>
              <a:t>The project provided practical experience in transforming raw data into meaningful insights</a:t>
            </a:r>
          </a:p>
          <a:p>
            <a:r>
              <a:rPr lang="en-US" sz="2000" b="1" i="1" dirty="0">
                <a:solidFill>
                  <a:srgbClr val="002060"/>
                </a:solidFill>
                <a:highlight>
                  <a:srgbClr val="C0C0C0"/>
                </a:highlight>
              </a:rPr>
              <a:t> for business decision-making.</a:t>
            </a:r>
            <a:endParaRPr lang="en-US" sz="2000" b="1" dirty="0">
              <a:solidFill>
                <a:srgbClr val="002060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94709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025A-BB4C-317C-0278-BF20DB87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           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43710-47FE-4960-0A63-5AC3C2E5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/>
              <a:t>    Thank </a:t>
            </a:r>
            <a:r>
              <a:rPr lang="en-US" i="1" dirty="0"/>
              <a:t>you for your time and consideration.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 Supply Chain Risk &amp; Resilience Analytics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      Internship Project – Data Analytics</a:t>
            </a:r>
            <a:br>
              <a:rPr lang="en-US" dirty="0"/>
            </a:br>
            <a:r>
              <a:rPr lang="en-US" dirty="0"/>
              <a:t>     </a:t>
            </a:r>
            <a:r>
              <a:rPr lang="en-US" b="1" dirty="0"/>
              <a:t>Alpha Innovation Private Limited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5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2393</Words>
  <Application>Microsoft Office PowerPoint</Application>
  <PresentationFormat>Widescreen</PresentationFormat>
  <Paragraphs>265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BEFORE THE BREAKDOWN</vt:lpstr>
      <vt:lpstr>Internship &amp; Details</vt:lpstr>
      <vt:lpstr>Company Overview</vt:lpstr>
      <vt:lpstr>Project Introduction</vt:lpstr>
      <vt:lpstr>                  Problem Statement</vt:lpstr>
      <vt:lpstr>                Project Objectives</vt:lpstr>
      <vt:lpstr>Project Scope</vt:lpstr>
      <vt:lpstr>Learning Outcomes</vt:lpstr>
      <vt:lpstr>Dataset Introduction</vt:lpstr>
      <vt:lpstr>Important Dataset Variables</vt:lpstr>
      <vt:lpstr>         Project Methodology</vt:lpstr>
      <vt:lpstr>Data Cleaning Using Power Query</vt:lpstr>
      <vt:lpstr>Data Transformation</vt:lpstr>
      <vt:lpstr>Risk Metrics &amp; Classification</vt:lpstr>
      <vt:lpstr>Supplier Risk Analysis</vt:lpstr>
      <vt:lpstr>Inventory Risk Analysis</vt:lpstr>
      <vt:lpstr>Delivery Risk Analysis</vt:lpstr>
      <vt:lpstr>Supply Chain Risk Dashboard</vt:lpstr>
      <vt:lpstr>Dashboard KPI Explanation</vt:lpstr>
      <vt:lpstr>Working Module – Supplier Risk Analysis</vt:lpstr>
      <vt:lpstr>Working Module - Inventory &amp; Delivery Risk</vt:lpstr>
      <vt:lpstr>Key Findings &amp; Business Insights</vt:lpstr>
      <vt:lpstr>Business Recommendations</vt:lpstr>
      <vt:lpstr>                Challenges Faced</vt:lpstr>
      <vt:lpstr>Solutions / How Challenges Were Handled</vt:lpstr>
      <vt:lpstr>             Conclusion</vt:lpstr>
      <vt:lpstr>                    Future Scope  </vt:lpstr>
      <vt:lpstr>    Daily Internship Tasks ( Day 1-5 )</vt:lpstr>
      <vt:lpstr> Daily Internship Tasks ( Day 5-10 )</vt:lpstr>
      <vt:lpstr>          Project Outcome &amp; Learning Summary</vt:lpstr>
      <vt:lpstr>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Mariyam Naseer</dc:creator>
  <cp:lastModifiedBy>Mariyam Naseer</cp:lastModifiedBy>
  <cp:revision>3</cp:revision>
  <dcterms:created xsi:type="dcterms:W3CDTF">2026-09-19T20:41:38Z</dcterms:created>
  <dcterms:modified xsi:type="dcterms:W3CDTF">2026-09-25T19:32:01Z</dcterms:modified>
</cp:coreProperties>
</file>